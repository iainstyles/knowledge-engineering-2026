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91" r:id="rId2"/>
    <p:sldId id="332" r:id="rId3"/>
    <p:sldId id="335" r:id="rId4"/>
    <p:sldId id="324" r:id="rId5"/>
    <p:sldId id="408" r:id="rId6"/>
    <p:sldId id="327" r:id="rId7"/>
    <p:sldId id="329" r:id="rId8"/>
    <p:sldId id="330" r:id="rId9"/>
    <p:sldId id="331" r:id="rId10"/>
    <p:sldId id="409" r:id="rId11"/>
    <p:sldId id="318" r:id="rId12"/>
    <p:sldId id="317" r:id="rId13"/>
    <p:sldId id="313" r:id="rId14"/>
    <p:sldId id="379" r:id="rId15"/>
    <p:sldId id="380" r:id="rId16"/>
    <p:sldId id="382" r:id="rId17"/>
    <p:sldId id="384" r:id="rId18"/>
    <p:sldId id="348" r:id="rId19"/>
    <p:sldId id="337" r:id="rId20"/>
    <p:sldId id="343" r:id="rId21"/>
    <p:sldId id="344" r:id="rId22"/>
    <p:sldId id="345" r:id="rId23"/>
    <p:sldId id="347" r:id="rId24"/>
    <p:sldId id="316" r:id="rId2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C92911-515C-234D-BA4A-00AD75DA503F}" v="1" dt="2026-10-06T11:38:32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1" autoAdjust="0"/>
    <p:restoredTop sz="82362" autoAdjust="0"/>
  </p:normalViewPr>
  <p:slideViewPr>
    <p:cSldViewPr snapToGrid="0" snapToObjects="1" showGuides="1">
      <p:cViewPr varScale="1">
        <p:scale>
          <a:sx n="186" d="100"/>
          <a:sy n="186" d="100"/>
        </p:scale>
        <p:origin x="464" y="192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sldOrd delSection modSection">
      <pc:chgData name="Iain Styles" userId="befbdaae-53f8-4d26-a8dc-3366b09f768a" providerId="ADAL" clId="{5E0D2633-D8F6-500D-A7FC-C9CB56BC4BFB}" dt="2026-10-06T11:38:32.511" v="2565"/>
      <pc:docMkLst>
        <pc:docMk/>
      </pc:docMkLst>
      <pc:sldChg chg="modSp add del mod">
        <pc:chgData name="Iain Styles" userId="befbdaae-53f8-4d26-a8dc-3366b09f768a" providerId="ADAL" clId="{5E0D2633-D8F6-500D-A7FC-C9CB56BC4BFB}" dt="2026-10-06T11:36:51.023" v="2553" actId="20577"/>
        <pc:sldMkLst>
          <pc:docMk/>
          <pc:sldMk cId="4150415409" sldId="291"/>
        </pc:sldMkLst>
        <pc:spChg chg="mod">
          <ac:chgData name="Iain Styles" userId="befbdaae-53f8-4d26-a8dc-3366b09f768a" providerId="ADAL" clId="{5E0D2633-D8F6-500D-A7FC-C9CB56BC4BFB}" dt="2026-10-06T11:36:51.023" v="2553" actId="20577"/>
          <ac:spMkLst>
            <pc:docMk/>
            <pc:sldMk cId="4150415409" sldId="291"/>
            <ac:spMk id="4" creationId="{9B1C70EF-FA7C-484D-A5D6-A4D325679B17}"/>
          </ac:spMkLst>
        </pc:spChg>
      </pc:sldChg>
      <pc:sldChg chg="add del">
        <pc:chgData name="Iain Styles" userId="befbdaae-53f8-4d26-a8dc-3366b09f768a" providerId="ADAL" clId="{5E0D2633-D8F6-500D-A7FC-C9CB56BC4BFB}" dt="2026-10-06T11:38:32.511" v="2565"/>
        <pc:sldMkLst>
          <pc:docMk/>
          <pc:sldMk cId="947455823" sldId="313"/>
        </pc:sldMkLst>
      </pc:sldChg>
      <pc:sldChg chg="del">
        <pc:chgData name="Iain Styles" userId="befbdaae-53f8-4d26-a8dc-3366b09f768a" providerId="ADAL" clId="{5E0D2633-D8F6-500D-A7FC-C9CB56BC4BFB}" dt="2026-10-06T11:37:03.113" v="2557" actId="2696"/>
        <pc:sldMkLst>
          <pc:docMk/>
          <pc:sldMk cId="480562127" sldId="314"/>
        </pc:sldMkLst>
      </pc:sldChg>
      <pc:sldChg chg="del">
        <pc:chgData name="Iain Styles" userId="befbdaae-53f8-4d26-a8dc-3366b09f768a" providerId="ADAL" clId="{5E0D2633-D8F6-500D-A7FC-C9CB56BC4BFB}" dt="2026-10-06T11:37:03.117" v="2562" actId="2696"/>
        <pc:sldMkLst>
          <pc:docMk/>
          <pc:sldMk cId="307969886" sldId="315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1502998730" sldId="316"/>
        </pc:sldMkLst>
      </pc:sldChg>
      <pc:sldChg chg="del">
        <pc:chgData name="Iain Styles" userId="befbdaae-53f8-4d26-a8dc-3366b09f768a" providerId="ADAL" clId="{5E0D2633-D8F6-500D-A7FC-C9CB56BC4BFB}" dt="2026-10-06T11:37:03.116" v="2560" actId="2696"/>
        <pc:sldMkLst>
          <pc:docMk/>
          <pc:sldMk cId="2857613945" sldId="319"/>
        </pc:sldMkLst>
      </pc:sldChg>
      <pc:sldChg chg="del">
        <pc:chgData name="Iain Styles" userId="befbdaae-53f8-4d26-a8dc-3366b09f768a" providerId="ADAL" clId="{5E0D2633-D8F6-500D-A7FC-C9CB56BC4BFB}" dt="2026-10-06T11:37:03.122" v="2563" actId="2696"/>
        <pc:sldMkLst>
          <pc:docMk/>
          <pc:sldMk cId="2219207218" sldId="320"/>
        </pc:sldMkLst>
      </pc:sldChg>
      <pc:sldChg chg="del">
        <pc:chgData name="Iain Styles" userId="befbdaae-53f8-4d26-a8dc-3366b09f768a" providerId="ADAL" clId="{5E0D2633-D8F6-500D-A7FC-C9CB56BC4BFB}" dt="2026-10-06T11:37:03.114" v="2558" actId="2696"/>
        <pc:sldMkLst>
          <pc:docMk/>
          <pc:sldMk cId="4218908280" sldId="322"/>
        </pc:sldMkLst>
      </pc:sldChg>
      <pc:sldChg chg="del">
        <pc:chgData name="Iain Styles" userId="befbdaae-53f8-4d26-a8dc-3366b09f768a" providerId="ADAL" clId="{5E0D2633-D8F6-500D-A7FC-C9CB56BC4BFB}" dt="2026-10-06T11:37:22.700" v="2564" actId="2696"/>
        <pc:sldMkLst>
          <pc:docMk/>
          <pc:sldMk cId="2546267309" sldId="323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2193192532" sldId="337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2288175872" sldId="343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1147943584" sldId="344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3834369767" sldId="345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4252593740" sldId="347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1624366765" sldId="348"/>
        </pc:sldMkLst>
      </pc:sldChg>
      <pc:sldChg chg="del">
        <pc:chgData name="Iain Styles" userId="befbdaae-53f8-4d26-a8dc-3366b09f768a" providerId="ADAL" clId="{5E0D2633-D8F6-500D-A7FC-C9CB56BC4BFB}" dt="2026-10-06T11:37:03.115" v="2559" actId="2696"/>
        <pc:sldMkLst>
          <pc:docMk/>
          <pc:sldMk cId="3571754264" sldId="349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862010830" sldId="379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514501444" sldId="380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245625690" sldId="382"/>
        </pc:sldMkLst>
      </pc:sldChg>
      <pc:sldChg chg="add">
        <pc:chgData name="Iain Styles" userId="befbdaae-53f8-4d26-a8dc-3366b09f768a" providerId="ADAL" clId="{5E0D2633-D8F6-500D-A7FC-C9CB56BC4BFB}" dt="2026-10-06T11:38:32.511" v="2565"/>
        <pc:sldMkLst>
          <pc:docMk/>
          <pc:sldMk cId="438696856" sldId="384"/>
        </pc:sldMkLst>
      </pc:sldChg>
      <pc:sldChg chg="del">
        <pc:chgData name="Iain Styles" userId="befbdaae-53f8-4d26-a8dc-3366b09f768a" providerId="ADAL" clId="{5E0D2633-D8F6-500D-A7FC-C9CB56BC4BFB}" dt="2026-10-06T11:37:03.107" v="2556" actId="2696"/>
        <pc:sldMkLst>
          <pc:docMk/>
          <pc:sldMk cId="555020806" sldId="406"/>
        </pc:sldMkLst>
      </pc:sldChg>
      <pc:sldChg chg="del">
        <pc:chgData name="Iain Styles" userId="befbdaae-53f8-4d26-a8dc-3366b09f768a" providerId="ADAL" clId="{5E0D2633-D8F6-500D-A7FC-C9CB56BC4BFB}" dt="2026-10-06T11:37:03.116" v="2561" actId="2696"/>
        <pc:sldMkLst>
          <pc:docMk/>
          <pc:sldMk cId="3450780846" sldId="407"/>
        </pc:sldMkLst>
      </pc:sldChg>
      <pc:sldChg chg="del">
        <pc:chgData name="Iain Styles" userId="befbdaae-53f8-4d26-a8dc-3366b09f768a" providerId="ADAL" clId="{5E0D2633-D8F6-500D-A7FC-C9CB56BC4BFB}" dt="2026-10-06T11:37:03.105" v="2555" actId="2696"/>
        <pc:sldMkLst>
          <pc:docMk/>
          <pc:sldMk cId="2402746477" sldId="41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rdf-primer/fig1dec16.p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People/EM/contact#me" TargetMode="Externa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kgtutorial.github.io/" TargetMode="External"/><Relationship Id="rId2" Type="http://schemas.openxmlformats.org/officeDocument/2006/relationships/hyperlink" Target="https://owlready2.readthedocs.io/en/v0.42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iccl.inf.tu-dresden.de/web/Knowledge_Graphs_(WS2021)/en" TargetMode="External"/><Relationship Id="rId4" Type="http://schemas.openxmlformats.org/officeDocument/2006/relationships/hyperlink" Target="https://jingdongsun.medium.com/creating-knowledge-graph-step-by-step-a383231acf2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4, 12 October 2026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5958B8-A42A-B0A3-E1F7-3D5BB2E7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367684" cy="632219"/>
          </a:xfrm>
        </p:spPr>
        <p:txBody>
          <a:bodyPr/>
          <a:lstStyle/>
          <a:p>
            <a:r>
              <a:rPr lang="en-US" dirty="0"/>
              <a:t>What can Knowledge Graphs do?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648C7-644F-5436-F485-A9D2E90EEF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562303" cy="489415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 between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relations between classes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hierarchies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to identify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directly to derive new knowledge by running logical inference on top of a knowledge graph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3B716-CA64-23E6-18DC-83366FCDC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91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A6C091-149B-1024-7E04-A819220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Graphs?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4E0CA-7F02-25EA-1F39-EDD47274A8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341077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are a natural way of representing relationships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“Things” = vertices on the graph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“Relationships” = edges on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mathematical structure entail many powerful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Totally flexible abstract data structure and can be structured to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Useful to have in mind some basic properties of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722B4-72DB-1045-DB48-105E51C0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93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Graph Basics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graph consists of a set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dirty="0">
                <a:solidFill>
                  <a:schemeClr val="tx2"/>
                </a:solidFill>
              </a:rPr>
              <a:t> of nodes or vertices and a set </a:t>
            </a:r>
            <a:r>
              <a:rPr lang="en-US" sz="2400" i="1" dirty="0">
                <a:solidFill>
                  <a:schemeClr val="tx2"/>
                </a:solidFill>
              </a:rPr>
              <a:t>E</a:t>
            </a:r>
            <a:r>
              <a:rPr lang="en-US" sz="2400" dirty="0">
                <a:solidFill>
                  <a:schemeClr val="tx2"/>
                </a:solidFill>
              </a:rPr>
              <a:t> of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edge is a tuple of two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2400" dirty="0">
                <a:solidFill>
                  <a:schemeClr val="tx2"/>
                </a:solidFill>
              </a:rPr>
              <a:t>rtices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 are </a:t>
            </a:r>
            <a:r>
              <a:rPr lang="en-US" sz="2400" i="1" dirty="0">
                <a:solidFill>
                  <a:schemeClr val="tx2"/>
                </a:solidFill>
              </a:rPr>
              <a:t>adjacent</a:t>
            </a:r>
            <a:r>
              <a:rPr lang="en-US" sz="2400" dirty="0">
                <a:solidFill>
                  <a:schemeClr val="tx2"/>
                </a:solidFill>
              </a:rPr>
              <a:t> (</a:t>
            </a:r>
            <a:r>
              <a:rPr lang="en-US" sz="2400" dirty="0" err="1">
                <a:solidFill>
                  <a:schemeClr val="tx2"/>
                </a:solidFill>
              </a:rPr>
              <a:t>ie</a:t>
            </a:r>
            <a:r>
              <a:rPr lang="en-US" sz="2400" dirty="0">
                <a:solidFill>
                  <a:schemeClr val="tx2"/>
                </a:solidFill>
              </a:rPr>
              <a:t>, connected) if (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) is in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Edges can be directed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represent in terms of matrices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90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BC0BCD-93E2-2294-256B-238791B7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826" y="381419"/>
            <a:ext cx="7376652" cy="632219"/>
          </a:xfrm>
        </p:spPr>
        <p:txBody>
          <a:bodyPr/>
          <a:lstStyle/>
          <a:p>
            <a:r>
              <a:rPr lang="en-US" dirty="0"/>
              <a:t>How to structure graphs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7A45C-59FF-4966-6E1A-B66B2967D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1719" cy="48941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provide a powerful mathematical foundation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we need to structure them to model a specific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Specifically, we need to decide what features of a problem a graph should represent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And what relationships it should include.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can be specified by an </a:t>
            </a:r>
            <a:r>
              <a:rPr lang="en-US" sz="2400" b="1" dirty="0">
                <a:solidFill>
                  <a:schemeClr val="tx2"/>
                </a:solidFill>
              </a:rPr>
              <a:t>ontology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DA387-72D8-6C78-C8DA-C85E7083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3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458694-6381-7397-E977-63AF133A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9B77E-26FD-680E-241A-BF89E19F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8985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Ontology is a formal way of </a:t>
            </a:r>
            <a:r>
              <a:rPr lang="en-US" sz="2400" dirty="0" err="1">
                <a:solidFill>
                  <a:schemeClr val="tx2"/>
                </a:solidFill>
              </a:rPr>
              <a:t>specifiying</a:t>
            </a:r>
            <a:r>
              <a:rPr lang="en-US" sz="2400" dirty="0">
                <a:solidFill>
                  <a:schemeClr val="tx2"/>
                </a:solidFill>
              </a:rPr>
              <a:t> the “things” in a domain, their properties, and the relationships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It is a schema for modelling 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Derived from domain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graphs are structured according to an ontology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 facts/data are then instantiated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4FDE7-3A53-7E0A-2CB0-E07D26DB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455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Steps in creating an ontology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Define the entities –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fundamental concepts in the domain?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are the relationships between the entities?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properties do the entities have?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2707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Entities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concepts?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Living things?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Animals?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Plants?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Cows?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Herbs?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9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relations between entities?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Is? (belongs 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toxic to?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Are relationships meaningfully bidirectional?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23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properties of the entities?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Latin name?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Typical size?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Where it is found?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7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Ontology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Does not need to represent everything we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relationships will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properties will be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the </a:t>
            </a:r>
            <a:r>
              <a:rPr lang="en-US" sz="2400" dirty="0" err="1">
                <a:solidFill>
                  <a:schemeClr val="tx2"/>
                </a:solidFill>
              </a:rPr>
              <a:t>colour</a:t>
            </a:r>
            <a:r>
              <a:rPr lang="en-US" sz="2400" dirty="0">
                <a:solidFill>
                  <a:schemeClr val="tx2"/>
                </a:solidFill>
              </a:rPr>
              <a:t> of a tablet relevant?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No, if you are a doctor or a patient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Yes, if you are responsible for manufacturing it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2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733691" cy="632219"/>
          </a:xfrm>
        </p:spPr>
        <p:txBody>
          <a:bodyPr/>
          <a:lstStyle/>
          <a:p>
            <a:r>
              <a:rPr lang="en-US"/>
              <a:t>Exercises </a:t>
            </a:r>
            <a:r>
              <a:rPr lang="en-US" dirty="0"/>
              <a:t>9</a:t>
            </a:r>
            <a:r>
              <a:rPr lang="en-US"/>
              <a:t>: </a:t>
            </a:r>
            <a:r>
              <a:rPr lang="en-US" dirty="0"/>
              <a:t>Designing an Ontology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668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6DC232-BBA6-4498-CDFC-0E3C954C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005711" cy="632219"/>
          </a:xfrm>
        </p:spPr>
        <p:txBody>
          <a:bodyPr/>
          <a:lstStyle/>
          <a:p>
            <a:r>
              <a:rPr lang="en-US" dirty="0"/>
              <a:t>Ontologies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8294C1-8F60-3136-B5C8-0D6A59CBE8C8}"/>
              </a:ext>
            </a:extLst>
          </p:cNvPr>
          <p:cNvGrpSpPr/>
          <p:nvPr/>
        </p:nvGrpSpPr>
        <p:grpSpPr>
          <a:xfrm>
            <a:off x="5800385" y="1080592"/>
            <a:ext cx="6256189" cy="5635070"/>
            <a:chOff x="6094854" y="553485"/>
            <a:chExt cx="6256189" cy="563507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EC5DC028-F39A-8D8A-F090-4F9CD7568A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6367A2-1067-55C0-8456-4586FA63DA1A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93AC494-B7F7-C140-DADB-EF15C1A8C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955" y="1353595"/>
            <a:ext cx="5228430" cy="452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55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FC924-6578-29E7-5EA4-31787FEA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F55213-37EB-253A-D411-F3F64C485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 are not Knowledge Graphs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BA510-96D6-AC75-B8BA-647A32368A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DE0761-6202-E5C8-E4AE-BF136C24E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48" y="976849"/>
            <a:ext cx="4577080" cy="39606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3C4EFD-4D44-5CF6-F1F5-12EF9317D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430" y="1086848"/>
            <a:ext cx="6060122" cy="577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010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2F0A-F60F-780C-B5BF-900C288B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Working with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D3561-06A9-35B0-D7DD-DA1478E23E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2"/>
                </a:solidFill>
              </a:rPr>
              <a:t>Kanren</a:t>
            </a:r>
            <a:r>
              <a:rPr lang="en-US" sz="2800" dirty="0">
                <a:solidFill>
                  <a:schemeClr val="tx2"/>
                </a:solidFill>
              </a:rPr>
              <a:t> – provides mechanisms for creating and querying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What is missing?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Ontologies – so no error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Attributes – nodes only have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“Familiar” tools for 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Reasonable import/export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501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7B68-80B3-C97B-17A8-A0BF736D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4373604-17E1-2EF0-B45B-0968B3E2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699" y="911482"/>
            <a:ext cx="6244270" cy="594651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FFD842F-5067-A1CB-051A-1730C7EE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attributes?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B94F0-A30A-ED7F-CAE2-12F6281AAB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163F2-AB4D-5197-56D2-8AFE94B50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7580"/>
            <a:ext cx="5791200" cy="5515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4C3EF8-B0AD-C2F7-F083-0CA52131543D}"/>
              </a:ext>
            </a:extLst>
          </p:cNvPr>
          <p:cNvSpPr txBox="1"/>
          <p:nvPr/>
        </p:nvSpPr>
        <p:spPr>
          <a:xfrm>
            <a:off x="9535760" y="5229901"/>
            <a:ext cx="2656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module_title</a:t>
            </a:r>
            <a:r>
              <a:rPr lang="en-US" sz="1200" dirty="0"/>
              <a:t> = “knowledge Engineering</a:t>
            </a:r>
          </a:p>
          <a:p>
            <a:r>
              <a:rPr lang="en-US" sz="1200" dirty="0" err="1"/>
              <a:t>module_id</a:t>
            </a:r>
            <a:r>
              <a:rPr lang="en-US" sz="1200" dirty="0"/>
              <a:t> = “ECS8052”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E3729-DBC3-8224-E49C-DB820C3FE82C}"/>
              </a:ext>
            </a:extLst>
          </p:cNvPr>
          <p:cNvSpPr txBox="1"/>
          <p:nvPr/>
        </p:nvSpPr>
        <p:spPr>
          <a:xfrm>
            <a:off x="9839525" y="6187430"/>
            <a:ext cx="1396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name=“Iain Styles</a:t>
            </a:r>
          </a:p>
          <a:p>
            <a:r>
              <a:rPr lang="en-US" sz="1200" dirty="0" err="1"/>
              <a:t>staff_id</a:t>
            </a:r>
            <a:r>
              <a:rPr lang="en-US" sz="1200" dirty="0"/>
              <a:t> = “123456”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BFDD4E-00A0-8B92-9DA3-D443452A4276}"/>
              </a:ext>
            </a:extLst>
          </p:cNvPr>
          <p:cNvSpPr txBox="1"/>
          <p:nvPr/>
        </p:nvSpPr>
        <p:spPr>
          <a:xfrm>
            <a:off x="4739013" y="4557317"/>
            <a:ext cx="22672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When would you use an attribute instead of a node?</a:t>
            </a:r>
          </a:p>
        </p:txBody>
      </p:sp>
    </p:spTree>
    <p:extLst>
      <p:ext uri="{BB962C8B-B14F-4D97-AF65-F5344CB8AC3E}">
        <p14:creationId xmlns:p14="http://schemas.microsoft.com/office/powerpoint/2010/main" val="245625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2830-4CAB-5B25-9FE9-E79735B3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56E1-F588-E924-54BE-09EAB356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 we want to do?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4CB1D-CB92-0362-E444-E94629E0F1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Specify an ontology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Instantiate it with 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Add attributes to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Query the graph using “familiar” notation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Save the graph/ontology in a well-defined and easily importable/exportable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Perform elementary reasoning on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We will use a package called owlready2 for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696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DA4D-41C7-34DD-7072-F710CD544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984524" cy="632219"/>
          </a:xfrm>
        </p:spPr>
        <p:txBody>
          <a:bodyPr/>
          <a:lstStyle/>
          <a:p>
            <a:r>
              <a:rPr lang="en-US" dirty="0"/>
              <a:t>Graph/Ontology Formats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7D2B7-2889-B52A-0FBB-A4814D97A5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Ontology representations designed to be “human readable” and machine </a:t>
            </a:r>
            <a:r>
              <a:rPr lang="en-US" sz="2800" dirty="0" err="1">
                <a:solidFill>
                  <a:schemeClr val="tx2"/>
                </a:solidFill>
              </a:rPr>
              <a:t>parseable</a:t>
            </a:r>
            <a:r>
              <a:rPr lang="en-US" sz="28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In practice, nearly always read/written by tools and read by humans only when strictly necessary.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Several common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EA03A-FA55-11FA-78A9-C86A88A4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66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0C5F-40E0-95D0-3D9D-339F362B3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43897" cy="632219"/>
          </a:xfrm>
        </p:spPr>
        <p:txBody>
          <a:bodyPr/>
          <a:lstStyle/>
          <a:p>
            <a:r>
              <a:rPr lang="en-US" dirty="0"/>
              <a:t>Examples of different ontology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35B16-969E-ADD6-1D47-AE1019E2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9F35D-2585-FD85-CC20-094AD372F79A}"/>
              </a:ext>
            </a:extLst>
          </p:cNvPr>
          <p:cNvSpPr txBox="1"/>
          <p:nvPr/>
        </p:nvSpPr>
        <p:spPr>
          <a:xfrm>
            <a:off x="908549" y="1477949"/>
            <a:ext cx="429636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28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dog, mammal)</a:t>
            </a:r>
          </a:p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28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cat, mammal)</a:t>
            </a:r>
          </a:p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(chases, dog, cat)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CA9E6-ECFF-70BE-1B28-A6C58C0A4B3F}"/>
              </a:ext>
            </a:extLst>
          </p:cNvPr>
          <p:cNvSpPr txBox="1"/>
          <p:nvPr/>
        </p:nvSpPr>
        <p:spPr>
          <a:xfrm>
            <a:off x="725864" y="3978112"/>
            <a:ext cx="41760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Simple Triples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Easy to parse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Lacks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Extensible</a:t>
            </a:r>
          </a:p>
        </p:txBody>
      </p:sp>
    </p:spTree>
    <p:extLst>
      <p:ext uri="{BB962C8B-B14F-4D97-AF65-F5344CB8AC3E}">
        <p14:creationId xmlns:p14="http://schemas.microsoft.com/office/powerpoint/2010/main" val="2193192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79591-55E5-C443-599A-2B1B404F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ED26-CAD9-EC36-3667-1EAD60DE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43897" cy="632219"/>
          </a:xfrm>
        </p:spPr>
        <p:txBody>
          <a:bodyPr/>
          <a:lstStyle/>
          <a:p>
            <a:r>
              <a:rPr lang="en-US" dirty="0"/>
              <a:t>Examples of different ontology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DC1FF-1D8F-2C15-BBC7-650B8835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C8F2B-E648-957A-8116-A1F80E3BC2CF}"/>
              </a:ext>
            </a:extLst>
          </p:cNvPr>
          <p:cNvSpPr txBox="1"/>
          <p:nvPr/>
        </p:nvSpPr>
        <p:spPr>
          <a:xfrm>
            <a:off x="0" y="1727200"/>
            <a:ext cx="12192000" cy="99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&lt;http://www.w3.org/1999/02/22-rdf-syntax-ns#type&gt;            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contact#fullName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     "Eric Miller"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contact#mailbox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      &lt;mailto:em@w3.org&gt;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contact#personalTitle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"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 .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306C7-310F-263E-77E2-02A5E6451A47}"/>
              </a:ext>
            </a:extLst>
          </p:cNvPr>
          <p:cNvSpPr txBox="1"/>
          <p:nvPr/>
        </p:nvSpPr>
        <p:spPr>
          <a:xfrm>
            <a:off x="612743" y="3497345"/>
            <a:ext cx="59968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W3C N-Triples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Subject– Predicate –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Designed for web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Referenced against external W3C definitions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F7F67955-7D59-EBA3-CE86-1F410CE51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577" y="2683559"/>
            <a:ext cx="4550724" cy="364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FBBDE6-616D-C878-7113-DFD1C1057C68}"/>
              </a:ext>
            </a:extLst>
          </p:cNvPr>
          <p:cNvSpPr txBox="1"/>
          <p:nvPr/>
        </p:nvSpPr>
        <p:spPr>
          <a:xfrm>
            <a:off x="5583025" y="650670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http://www.w3.org/TR/rdf-primer/fig1dec16.png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8175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7EB5-B133-9931-0416-4550079F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Turtle: Terse RDF Triple Language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09D76-8DAD-DD25-4C73-9FD2903F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357DD-EC32-9C76-E964-CF64274B3E97}"/>
              </a:ext>
            </a:extLst>
          </p:cNvPr>
          <p:cNvSpPr txBox="1"/>
          <p:nvPr/>
        </p:nvSpPr>
        <p:spPr>
          <a:xfrm>
            <a:off x="253737" y="1369269"/>
            <a:ext cx="13650799" cy="184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prefix ns0: &lt;http://www.w3.org/2000/10/swap/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/contact#&gt; .</a:t>
            </a:r>
          </a:p>
          <a:p>
            <a:pPr>
              <a:lnSpc>
                <a:spcPct val="120000"/>
              </a:lnSpc>
            </a:pPr>
            <a:b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</a:b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  <a:hlinkClick r:id="rId2"/>
              </a:rPr>
              <a:t>http://www.w3.org/People/EM/contact#me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a &lt;http://www.w3.org/2000/10/swap/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ns0:fullName "Eric Miller"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ns0:mailbox &lt;mailto:em@w3.org&gt;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ns0:personalTitle "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 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DA35A-0889-E5E5-28E8-5E03B700BECD}"/>
              </a:ext>
            </a:extLst>
          </p:cNvPr>
          <p:cNvSpPr txBox="1"/>
          <p:nvPr/>
        </p:nvSpPr>
        <p:spPr>
          <a:xfrm>
            <a:off x="253737" y="4326903"/>
            <a:ext cx="57002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Less repetitive and verbose than N-Triples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Namespaces and nesting</a:t>
            </a:r>
          </a:p>
        </p:txBody>
      </p:sp>
    </p:spTree>
    <p:extLst>
      <p:ext uri="{BB962C8B-B14F-4D97-AF65-F5344CB8AC3E}">
        <p14:creationId xmlns:p14="http://schemas.microsoft.com/office/powerpoint/2010/main" val="1147943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A40FC-9512-9DA9-CE99-1DF9BBC9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E112-2BEC-84F6-2855-4394FDDB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RDF/XML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F2795-D9B2-BA7B-305B-BCFF2D27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044E1-6D40-6A5D-484A-927F6D56D4A5}"/>
              </a:ext>
            </a:extLst>
          </p:cNvPr>
          <p:cNvSpPr txBox="1"/>
          <p:nvPr/>
        </p:nvSpPr>
        <p:spPr>
          <a:xfrm>
            <a:off x="253737" y="1369269"/>
            <a:ext cx="13650799" cy="3318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&lt;?xml version="1.0"?&gt;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="http://www.w3.org/1999/02/22-rdf-syntax-ns#"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   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xmlns:contact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/contact#"&gt;</a:t>
            </a:r>
          </a:p>
          <a:p>
            <a:pPr>
              <a:lnSpc>
                <a:spcPct val="120000"/>
              </a:lnSpc>
            </a:pPr>
            <a:endParaRPr lang="en-GB" sz="16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="http://www.w3.org/People/EM/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contact:fullName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&gt;Eric Miller&lt;/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contact:fullName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contact:mailbox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="mailto:em@w3.org"/&gt;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contact:personalTitle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contact:personalTitle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16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869162-FC09-66A2-6031-1056C52CC758}"/>
              </a:ext>
            </a:extLst>
          </p:cNvPr>
          <p:cNvSpPr txBox="1"/>
          <p:nvPr/>
        </p:nvSpPr>
        <p:spPr>
          <a:xfrm>
            <a:off x="253737" y="5137102"/>
            <a:ext cx="65202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similar but a little more verbose than Turtle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XML-based so can use generic parsers</a:t>
            </a:r>
          </a:p>
        </p:txBody>
      </p:sp>
    </p:spTree>
    <p:extLst>
      <p:ext uri="{BB962C8B-B14F-4D97-AF65-F5344CB8AC3E}">
        <p14:creationId xmlns:p14="http://schemas.microsoft.com/office/powerpoint/2010/main" val="3834369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7543-4516-E235-DB38-E923FC19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A41A-AEAC-C9DB-244D-E7B21674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OWL: Web Ontology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9F43A-266F-D045-8F06-7BA2FC19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7C6FC-FD8E-D181-407C-32C0D9FBB4C3}"/>
              </a:ext>
            </a:extLst>
          </p:cNvPr>
          <p:cNvSpPr txBox="1"/>
          <p:nvPr/>
        </p:nvSpPr>
        <p:spPr>
          <a:xfrm>
            <a:off x="253737" y="1369269"/>
            <a:ext cx="13650799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&lt;?xml version="1.0"?&gt;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="http://www.w3.org/1999/02/22-rdf-syntax-ns#"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xmlns:xsd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="http://www.w3.org/2001/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XMLSchema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="http://www.w3.org/2000/01/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-schema#"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="http://www.w3.org/2002/07/owl#"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xml:base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#"&gt;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owl:Ontology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="#chases"&gt;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4AD57-430B-04A1-88D7-FC58CDCA2AC3}"/>
              </a:ext>
            </a:extLst>
          </p:cNvPr>
          <p:cNvSpPr txBox="1"/>
          <p:nvPr/>
        </p:nvSpPr>
        <p:spPr>
          <a:xfrm>
            <a:off x="5297077" y="1847147"/>
            <a:ext cx="6091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Like many XML formats, can be very verbose.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XML tooling.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Referenced against external definitions.</a:t>
            </a:r>
          </a:p>
        </p:txBody>
      </p:sp>
    </p:spTree>
    <p:extLst>
      <p:ext uri="{BB962C8B-B14F-4D97-AF65-F5344CB8AC3E}">
        <p14:creationId xmlns:p14="http://schemas.microsoft.com/office/powerpoint/2010/main" val="4252593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 found all of the following helpful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2"/>
              </a:rPr>
              <a:t>https://owlready2.readthedocs.io/en/v0.42/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3"/>
              </a:rPr>
              <a:t>https://kgtutorial.github.io/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4"/>
              </a:rPr>
              <a:t>https://jingdongsun.medium.com/creating-knowledge-graph-step-by-step-a383231acf2d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5"/>
              </a:rPr>
              <a:t>https://iccl.inf.tu-dresden.de/web/Knowledge_Graphs_(WS2021)/en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98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7514</TotalTime>
  <Words>1750</Words>
  <Application>Microsoft Macintosh PowerPoint</Application>
  <PresentationFormat>Widescreen</PresentationFormat>
  <Paragraphs>283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Menlo</vt:lpstr>
      <vt:lpstr>Office Theme</vt:lpstr>
      <vt:lpstr>MSc Artificial Intelligence</vt:lpstr>
      <vt:lpstr>What can Knowledge Graphs do?</vt:lpstr>
      <vt:lpstr>Why Graphs?</vt:lpstr>
      <vt:lpstr>Graph Basics</vt:lpstr>
      <vt:lpstr>How to structure graphs</vt:lpstr>
      <vt:lpstr>Ontologies</vt:lpstr>
      <vt:lpstr>Steps in creating an ontology</vt:lpstr>
      <vt:lpstr>Entities</vt:lpstr>
      <vt:lpstr>Relationships</vt:lpstr>
      <vt:lpstr>Properties</vt:lpstr>
      <vt:lpstr>Ontology Guidelines</vt:lpstr>
      <vt:lpstr>Exercises 9: Designing an Ontology</vt:lpstr>
      <vt:lpstr>Ontologies</vt:lpstr>
      <vt:lpstr>Ontologies are not Knowledge Graphs</vt:lpstr>
      <vt:lpstr>Tools for Working with Graphs</vt:lpstr>
      <vt:lpstr>Why do we need attributes?</vt:lpstr>
      <vt:lpstr>So what do we want to do?</vt:lpstr>
      <vt:lpstr>Graph/Ontology Formats</vt:lpstr>
      <vt:lpstr>Examples of different ontology formats</vt:lpstr>
      <vt:lpstr>Examples of different ontology formats</vt:lpstr>
      <vt:lpstr>Turtle: Terse RDF Triple Language </vt:lpstr>
      <vt:lpstr>RDF/XML</vt:lpstr>
      <vt:lpstr>OWL: Web Ontology Language</vt:lpstr>
      <vt:lpstr>Documentation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2026-10-06T11:38:42Z</dcterms:modified>
</cp:coreProperties>
</file>