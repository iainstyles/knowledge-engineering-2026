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66"/>
  </p:notesMasterIdLst>
  <p:handoutMasterIdLst>
    <p:handoutMasterId r:id="rId67"/>
  </p:handoutMasterIdLst>
  <p:sldIdLst>
    <p:sldId id="291" r:id="rId2"/>
    <p:sldId id="319" r:id="rId3"/>
    <p:sldId id="316" r:id="rId4"/>
    <p:sldId id="611" r:id="rId5"/>
    <p:sldId id="258" r:id="rId6"/>
    <p:sldId id="406" r:id="rId7"/>
    <p:sldId id="409" r:id="rId8"/>
    <p:sldId id="411" r:id="rId9"/>
    <p:sldId id="609" r:id="rId10"/>
    <p:sldId id="610" r:id="rId11"/>
    <p:sldId id="412" r:id="rId12"/>
    <p:sldId id="322" r:id="rId13"/>
    <p:sldId id="323" r:id="rId14"/>
    <p:sldId id="324" r:id="rId15"/>
    <p:sldId id="325" r:id="rId16"/>
    <p:sldId id="618" r:id="rId17"/>
    <p:sldId id="327" r:id="rId18"/>
    <p:sldId id="293" r:id="rId19"/>
    <p:sldId id="326" r:id="rId20"/>
    <p:sldId id="257" r:id="rId21"/>
    <p:sldId id="259" r:id="rId22"/>
    <p:sldId id="292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9" r:id="rId38"/>
    <p:sldId id="310" r:id="rId39"/>
    <p:sldId id="343" r:id="rId40"/>
    <p:sldId id="312" r:id="rId41"/>
    <p:sldId id="344" r:id="rId42"/>
    <p:sldId id="311" r:id="rId43"/>
    <p:sldId id="314" r:id="rId44"/>
    <p:sldId id="315" r:id="rId45"/>
    <p:sldId id="345" r:id="rId46"/>
    <p:sldId id="318" r:id="rId47"/>
    <p:sldId id="346" r:id="rId48"/>
    <p:sldId id="347" r:id="rId49"/>
    <p:sldId id="348" r:id="rId50"/>
    <p:sldId id="349" r:id="rId51"/>
    <p:sldId id="350" r:id="rId52"/>
    <p:sldId id="352" r:id="rId53"/>
    <p:sldId id="353" r:id="rId54"/>
    <p:sldId id="328" r:id="rId55"/>
    <p:sldId id="329" r:id="rId56"/>
    <p:sldId id="330" r:id="rId57"/>
    <p:sldId id="354" r:id="rId58"/>
    <p:sldId id="331" r:id="rId59"/>
    <p:sldId id="355" r:id="rId60"/>
    <p:sldId id="317" r:id="rId61"/>
    <p:sldId id="356" r:id="rId62"/>
    <p:sldId id="357" r:id="rId63"/>
    <p:sldId id="360" r:id="rId64"/>
    <p:sldId id="359" r:id="rId65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21 September, 0930-1030" id="{C81B977D-B904-D64D-9B82-73A8047B6F1A}">
          <p14:sldIdLst>
            <p14:sldId id="291"/>
            <p14:sldId id="319"/>
            <p14:sldId id="316"/>
            <p14:sldId id="611"/>
            <p14:sldId id="258"/>
            <p14:sldId id="406"/>
            <p14:sldId id="409"/>
            <p14:sldId id="411"/>
            <p14:sldId id="609"/>
            <p14:sldId id="610"/>
            <p14:sldId id="412"/>
            <p14:sldId id="322"/>
            <p14:sldId id="323"/>
            <p14:sldId id="324"/>
            <p14:sldId id="325"/>
            <p14:sldId id="618"/>
            <p14:sldId id="327"/>
            <p14:sldId id="293"/>
            <p14:sldId id="326"/>
          </p14:sldIdLst>
        </p14:section>
        <p14:section name="21 September, 1030-1200" id="{9C17B0EA-3447-1242-AC57-26E3B2C42C96}">
          <p14:sldIdLst>
            <p14:sldId id="257"/>
            <p14:sldId id="259"/>
            <p14:sldId id="292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9"/>
            <p14:sldId id="310"/>
            <p14:sldId id="343"/>
            <p14:sldId id="312"/>
            <p14:sldId id="344"/>
            <p14:sldId id="311"/>
            <p14:sldId id="314"/>
            <p14:sldId id="315"/>
          </p14:sldIdLst>
        </p14:section>
        <p14:section name="11 November 1200-1330" id="{10930351-D98B-FF48-9484-3C7A752B18C0}">
          <p14:sldIdLst>
            <p14:sldId id="345"/>
            <p14:sldId id="318"/>
            <p14:sldId id="346"/>
            <p14:sldId id="347"/>
            <p14:sldId id="348"/>
            <p14:sldId id="349"/>
            <p14:sldId id="350"/>
            <p14:sldId id="352"/>
            <p14:sldId id="353"/>
            <p14:sldId id="328"/>
            <p14:sldId id="329"/>
            <p14:sldId id="330"/>
            <p14:sldId id="354"/>
            <p14:sldId id="331"/>
            <p14:sldId id="355"/>
            <p14:sldId id="317"/>
          </p14:sldIdLst>
        </p14:section>
        <p14:section name="23 September 1100-1300" id="{A588EEF6-A57A-1947-A367-23B57769E0F0}">
          <p14:sldIdLst>
            <p14:sldId id="356"/>
            <p14:sldId id="357"/>
            <p14:sldId id="360"/>
            <p14:sldId id="3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158D8B-73A7-5842-87CA-1CBA8806BA43}" v="1" dt="2026-09-21T10:33:50.3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58" autoAdjust="0"/>
    <p:restoredTop sz="92761" autoAdjust="0"/>
  </p:normalViewPr>
  <p:slideViewPr>
    <p:cSldViewPr snapToGrid="0" snapToObjects="1" showGuides="1">
      <p:cViewPr varScale="1">
        <p:scale>
          <a:sx n="56" d="100"/>
          <a:sy n="56" d="100"/>
        </p:scale>
        <p:origin x="888" y="184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Styles" userId="befbdaae-53f8-4d26-a8dc-3366b09f768a" providerId="ADAL" clId="{5E0D2633-D8F6-500D-A7FC-C9CB56BC4BFB}"/>
    <pc:docChg chg="custSel addSld delSld modSld sldOrd delSection modSection modShowInfo">
      <pc:chgData name="Iain Styles" userId="befbdaae-53f8-4d26-a8dc-3366b09f768a" providerId="ADAL" clId="{5E0D2633-D8F6-500D-A7FC-C9CB56BC4BFB}" dt="2026-09-21T10:33:50.322" v="1158"/>
      <pc:docMkLst>
        <pc:docMk/>
      </pc:docMkLst>
      <pc:sldChg chg="modSp mod ord">
        <pc:chgData name="Iain Styles" userId="befbdaae-53f8-4d26-a8dc-3366b09f768a" providerId="ADAL" clId="{5E0D2633-D8F6-500D-A7FC-C9CB56BC4BFB}" dt="2026-09-16T14:37:37.463" v="834" actId="14100"/>
        <pc:sldMkLst>
          <pc:docMk/>
          <pc:sldMk cId="0" sldId="257"/>
        </pc:sldMkLst>
        <pc:spChg chg="mod">
          <ac:chgData name="Iain Styles" userId="befbdaae-53f8-4d26-a8dc-3366b09f768a" providerId="ADAL" clId="{5E0D2633-D8F6-500D-A7FC-C9CB56BC4BFB}" dt="2026-09-16T14:37:37.463" v="834" actId="14100"/>
          <ac:spMkLst>
            <pc:docMk/>
            <pc:sldMk cId="0" sldId="257"/>
            <ac:spMk id="2" creationId="{00000000-0000-0000-0000-000000000000}"/>
          </ac:spMkLst>
        </pc:spChg>
      </pc:sldChg>
      <pc:sldChg chg="ord">
        <pc:chgData name="Iain Styles" userId="befbdaae-53f8-4d26-a8dc-3366b09f768a" providerId="ADAL" clId="{5E0D2633-D8F6-500D-A7FC-C9CB56BC4BFB}" dt="2026-09-18T08:56:30.078" v="1147" actId="20578"/>
        <pc:sldMkLst>
          <pc:docMk/>
          <pc:sldMk cId="0" sldId="258"/>
        </pc:sldMkLst>
      </pc:sldChg>
      <pc:sldChg chg="ord">
        <pc:chgData name="Iain Styles" userId="befbdaae-53f8-4d26-a8dc-3366b09f768a" providerId="ADAL" clId="{5E0D2633-D8F6-500D-A7FC-C9CB56BC4BFB}" dt="2026-09-16T14:36:57.010" v="796" actId="20578"/>
        <pc:sldMkLst>
          <pc:docMk/>
          <pc:sldMk cId="0" sldId="259"/>
        </pc:sldMkLst>
      </pc:sldChg>
      <pc:sldChg chg="modSp mod">
        <pc:chgData name="Iain Styles" userId="befbdaae-53f8-4d26-a8dc-3366b09f768a" providerId="ADAL" clId="{5E0D2633-D8F6-500D-A7FC-C9CB56BC4BFB}" dt="2026-09-16T14:36:25.897" v="794" actId="20577"/>
        <pc:sldMkLst>
          <pc:docMk/>
          <pc:sldMk cId="1192987580" sldId="293"/>
        </pc:sldMkLst>
        <pc:spChg chg="mod">
          <ac:chgData name="Iain Styles" userId="befbdaae-53f8-4d26-a8dc-3366b09f768a" providerId="ADAL" clId="{5E0D2633-D8F6-500D-A7FC-C9CB56BC4BFB}" dt="2026-09-16T14:36:25.897" v="794" actId="20577"/>
          <ac:spMkLst>
            <pc:docMk/>
            <pc:sldMk cId="1192987580" sldId="293"/>
            <ac:spMk id="6" creationId="{D1EF30F6-B75A-20BC-FD9A-02D24F73D10D}"/>
          </ac:spMkLst>
        </pc:spChg>
      </pc:sldChg>
      <pc:sldChg chg="addSp">
        <pc:chgData name="Iain Styles" userId="befbdaae-53f8-4d26-a8dc-3366b09f768a" providerId="ADAL" clId="{5E0D2633-D8F6-500D-A7FC-C9CB56BC4BFB}" dt="2026-09-21T10:33:50.322" v="1158"/>
        <pc:sldMkLst>
          <pc:docMk/>
          <pc:sldMk cId="1304821645" sldId="296"/>
        </pc:sldMkLst>
        <pc:inkChg chg="add">
          <ac:chgData name="Iain Styles" userId="befbdaae-53f8-4d26-a8dc-3366b09f768a" providerId="ADAL" clId="{5E0D2633-D8F6-500D-A7FC-C9CB56BC4BFB}" dt="2026-09-21T10:33:50.322" v="1158"/>
          <ac:inkMkLst>
            <pc:docMk/>
            <pc:sldMk cId="1304821645" sldId="296"/>
            <ac:inkMk id="5" creationId="{686B1F53-3E2C-BF6B-7F6E-ED3F0ABD27ED}"/>
          </ac:inkMkLst>
        </pc:inkChg>
      </pc:sldChg>
      <pc:sldChg chg="modSp mod">
        <pc:chgData name="Iain Styles" userId="befbdaae-53f8-4d26-a8dc-3366b09f768a" providerId="ADAL" clId="{5E0D2633-D8F6-500D-A7FC-C9CB56BC4BFB}" dt="2026-09-16T14:36:01.821" v="763" actId="20577"/>
        <pc:sldMkLst>
          <pc:docMk/>
          <pc:sldMk cId="1489423034" sldId="299"/>
        </pc:sldMkLst>
        <pc:spChg chg="mod">
          <ac:chgData name="Iain Styles" userId="befbdaae-53f8-4d26-a8dc-3366b09f768a" providerId="ADAL" clId="{5E0D2633-D8F6-500D-A7FC-C9CB56BC4BFB}" dt="2026-09-16T14:36:01.821" v="763" actId="20577"/>
          <ac:spMkLst>
            <pc:docMk/>
            <pc:sldMk cId="1489423034" sldId="299"/>
            <ac:spMk id="6" creationId="{D1EF30F6-B75A-20BC-FD9A-02D24F73D10D}"/>
          </ac:spMkLst>
        </pc:spChg>
      </pc:sldChg>
      <pc:sldChg chg="ord">
        <pc:chgData name="Iain Styles" userId="befbdaae-53f8-4d26-a8dc-3366b09f768a" providerId="ADAL" clId="{5E0D2633-D8F6-500D-A7FC-C9CB56BC4BFB}" dt="2026-09-16T14:39:47.523" v="865" actId="20578"/>
        <pc:sldMkLst>
          <pc:docMk/>
          <pc:sldMk cId="863111172" sldId="311"/>
        </pc:sldMkLst>
      </pc:sldChg>
      <pc:sldChg chg="modSp mod">
        <pc:chgData name="Iain Styles" userId="befbdaae-53f8-4d26-a8dc-3366b09f768a" providerId="ADAL" clId="{5E0D2633-D8F6-500D-A7FC-C9CB56BC4BFB}" dt="2026-09-16T14:38:57.885" v="862" actId="20577"/>
        <pc:sldMkLst>
          <pc:docMk/>
          <pc:sldMk cId="2957935270" sldId="312"/>
        </pc:sldMkLst>
        <pc:spChg chg="mod">
          <ac:chgData name="Iain Styles" userId="befbdaae-53f8-4d26-a8dc-3366b09f768a" providerId="ADAL" clId="{5E0D2633-D8F6-500D-A7FC-C9CB56BC4BFB}" dt="2026-09-16T14:38:57.885" v="862" actId="20577"/>
          <ac:spMkLst>
            <pc:docMk/>
            <pc:sldMk cId="2957935270" sldId="312"/>
            <ac:spMk id="6" creationId="{D1EF30F6-B75A-20BC-FD9A-02D24F73D10D}"/>
          </ac:spMkLst>
        </pc:spChg>
      </pc:sldChg>
      <pc:sldChg chg="ord">
        <pc:chgData name="Iain Styles" userId="befbdaae-53f8-4d26-a8dc-3366b09f768a" providerId="ADAL" clId="{5E0D2633-D8F6-500D-A7FC-C9CB56BC4BFB}" dt="2026-09-16T14:39:47.523" v="865" actId="20578"/>
        <pc:sldMkLst>
          <pc:docMk/>
          <pc:sldMk cId="398718148" sldId="314"/>
        </pc:sldMkLst>
      </pc:sldChg>
      <pc:sldChg chg="ord">
        <pc:chgData name="Iain Styles" userId="befbdaae-53f8-4d26-a8dc-3366b09f768a" providerId="ADAL" clId="{5E0D2633-D8F6-500D-A7FC-C9CB56BC4BFB}" dt="2026-09-16T14:39:47.523" v="865" actId="20578"/>
        <pc:sldMkLst>
          <pc:docMk/>
          <pc:sldMk cId="685004756" sldId="315"/>
        </pc:sldMkLst>
      </pc:sldChg>
      <pc:sldChg chg="add">
        <pc:chgData name="Iain Styles" userId="befbdaae-53f8-4d26-a8dc-3366b09f768a" providerId="ADAL" clId="{5E0D2633-D8F6-500D-A7FC-C9CB56BC4BFB}" dt="2026-09-18T08:55:48.442" v="1144"/>
        <pc:sldMkLst>
          <pc:docMk/>
          <pc:sldMk cId="3294032720" sldId="316"/>
        </pc:sldMkLst>
      </pc:sldChg>
      <pc:sldChg chg="modSp mod">
        <pc:chgData name="Iain Styles" userId="befbdaae-53f8-4d26-a8dc-3366b09f768a" providerId="ADAL" clId="{5E0D2633-D8F6-500D-A7FC-C9CB56BC4BFB}" dt="2026-09-16T14:54:04.792" v="1123" actId="20577"/>
        <pc:sldMkLst>
          <pc:docMk/>
          <pc:sldMk cId="467970236" sldId="317"/>
        </pc:sldMkLst>
        <pc:spChg chg="mod">
          <ac:chgData name="Iain Styles" userId="befbdaae-53f8-4d26-a8dc-3366b09f768a" providerId="ADAL" clId="{5E0D2633-D8F6-500D-A7FC-C9CB56BC4BFB}" dt="2026-09-16T14:54:04.792" v="1123" actId="20577"/>
          <ac:spMkLst>
            <pc:docMk/>
            <pc:sldMk cId="467970236" sldId="317"/>
            <ac:spMk id="3" creationId="{18FA938C-8914-3151-DA01-4813EF8E6F58}"/>
          </ac:spMkLst>
        </pc:spChg>
      </pc:sldChg>
      <pc:sldChg chg="ord">
        <pc:chgData name="Iain Styles" userId="befbdaae-53f8-4d26-a8dc-3366b09f768a" providerId="ADAL" clId="{5E0D2633-D8F6-500D-A7FC-C9CB56BC4BFB}" dt="2026-09-18T08:56:38.810" v="1148" actId="20578"/>
        <pc:sldMkLst>
          <pc:docMk/>
          <pc:sldMk cId="579893352" sldId="322"/>
        </pc:sldMkLst>
      </pc:sldChg>
      <pc:sldChg chg="modSp mod">
        <pc:chgData name="Iain Styles" userId="befbdaae-53f8-4d26-a8dc-3366b09f768a" providerId="ADAL" clId="{5E0D2633-D8F6-500D-A7FC-C9CB56BC4BFB}" dt="2026-09-16T20:12:46.882" v="1132" actId="20577"/>
        <pc:sldMkLst>
          <pc:docMk/>
          <pc:sldMk cId="4156057639" sldId="323"/>
        </pc:sldMkLst>
        <pc:spChg chg="mod">
          <ac:chgData name="Iain Styles" userId="befbdaae-53f8-4d26-a8dc-3366b09f768a" providerId="ADAL" clId="{5E0D2633-D8F6-500D-A7FC-C9CB56BC4BFB}" dt="2026-09-16T20:12:46.882" v="1132" actId="20577"/>
          <ac:spMkLst>
            <pc:docMk/>
            <pc:sldMk cId="4156057639" sldId="323"/>
            <ac:spMk id="7" creationId="{CCDFB13F-7034-BFAE-EE4E-1ADA9EC3FA92}"/>
          </ac:spMkLst>
        </pc:spChg>
      </pc:sldChg>
      <pc:sldChg chg="modSp mod">
        <pc:chgData name="Iain Styles" userId="befbdaae-53f8-4d26-a8dc-3366b09f768a" providerId="ADAL" clId="{5E0D2633-D8F6-500D-A7FC-C9CB56BC4BFB}" dt="2026-09-16T14:12:39.729" v="30" actId="27636"/>
        <pc:sldMkLst>
          <pc:docMk/>
          <pc:sldMk cId="574810486" sldId="324"/>
        </pc:sldMkLst>
        <pc:spChg chg="mod">
          <ac:chgData name="Iain Styles" userId="befbdaae-53f8-4d26-a8dc-3366b09f768a" providerId="ADAL" clId="{5E0D2633-D8F6-500D-A7FC-C9CB56BC4BFB}" dt="2026-09-16T14:12:39.729" v="30" actId="27636"/>
          <ac:spMkLst>
            <pc:docMk/>
            <pc:sldMk cId="574810486" sldId="324"/>
            <ac:spMk id="7" creationId="{CCDFB13F-7034-BFAE-EE4E-1ADA9EC3FA92}"/>
          </ac:spMkLst>
        </pc:spChg>
      </pc:sldChg>
      <pc:sldChg chg="modSp mod">
        <pc:chgData name="Iain Styles" userId="befbdaae-53f8-4d26-a8dc-3366b09f768a" providerId="ADAL" clId="{5E0D2633-D8F6-500D-A7FC-C9CB56BC4BFB}" dt="2026-09-16T14:21:40.659" v="725" actId="20577"/>
        <pc:sldMkLst>
          <pc:docMk/>
          <pc:sldMk cId="3211664744" sldId="325"/>
        </pc:sldMkLst>
        <pc:spChg chg="mod">
          <ac:chgData name="Iain Styles" userId="befbdaae-53f8-4d26-a8dc-3366b09f768a" providerId="ADAL" clId="{5E0D2633-D8F6-500D-A7FC-C9CB56BC4BFB}" dt="2026-09-16T14:21:40.659" v="725" actId="20577"/>
          <ac:spMkLst>
            <pc:docMk/>
            <pc:sldMk cId="3211664744" sldId="325"/>
            <ac:spMk id="7" creationId="{CCDFB13F-7034-BFAE-EE4E-1ADA9EC3FA92}"/>
          </ac:spMkLst>
        </pc:spChg>
      </pc:sldChg>
      <pc:sldChg chg="ord">
        <pc:chgData name="Iain Styles" userId="befbdaae-53f8-4d26-a8dc-3366b09f768a" providerId="ADAL" clId="{5E0D2633-D8F6-500D-A7FC-C9CB56BC4BFB}" dt="2026-09-16T14:37:15.596" v="800" actId="20578"/>
        <pc:sldMkLst>
          <pc:docMk/>
          <pc:sldMk cId="3149925182" sldId="326"/>
        </pc:sldMkLst>
      </pc:sldChg>
      <pc:sldChg chg="ord">
        <pc:chgData name="Iain Styles" userId="befbdaae-53f8-4d26-a8dc-3366b09f768a" providerId="ADAL" clId="{5E0D2633-D8F6-500D-A7FC-C9CB56BC4BFB}" dt="2026-09-16T14:39:47.523" v="865" actId="20578"/>
        <pc:sldMkLst>
          <pc:docMk/>
          <pc:sldMk cId="570359550" sldId="344"/>
        </pc:sldMkLst>
      </pc:sldChg>
      <pc:sldChg chg="modSp mod">
        <pc:chgData name="Iain Styles" userId="befbdaae-53f8-4d26-a8dc-3366b09f768a" providerId="ADAL" clId="{5E0D2633-D8F6-500D-A7FC-C9CB56BC4BFB}" dt="2026-09-16T14:53:30.890" v="1107" actId="20577"/>
        <pc:sldMkLst>
          <pc:docMk/>
          <pc:sldMk cId="3530153824" sldId="355"/>
        </pc:sldMkLst>
        <pc:spChg chg="mod">
          <ac:chgData name="Iain Styles" userId="befbdaae-53f8-4d26-a8dc-3366b09f768a" providerId="ADAL" clId="{5E0D2633-D8F6-500D-A7FC-C9CB56BC4BFB}" dt="2026-09-16T14:53:30.890" v="1107" actId="20577"/>
          <ac:spMkLst>
            <pc:docMk/>
            <pc:sldMk cId="3530153824" sldId="355"/>
            <ac:spMk id="6" creationId="{9D8AA719-99CB-BBDE-EDE0-F0EEA4906AC2}"/>
          </ac:spMkLst>
        </pc:spChg>
      </pc:sldChg>
      <pc:sldChg chg="add">
        <pc:chgData name="Iain Styles" userId="befbdaae-53f8-4d26-a8dc-3366b09f768a" providerId="ADAL" clId="{5E0D2633-D8F6-500D-A7FC-C9CB56BC4BFB}" dt="2026-09-16T14:55:24.295" v="1126"/>
        <pc:sldMkLst>
          <pc:docMk/>
          <pc:sldMk cId="539207412" sldId="360"/>
        </pc:sldMkLst>
      </pc:sldChg>
      <pc:sldChg chg="add ord">
        <pc:chgData name="Iain Styles" userId="befbdaae-53f8-4d26-a8dc-3366b09f768a" providerId="ADAL" clId="{5E0D2633-D8F6-500D-A7FC-C9CB56BC4BFB}" dt="2026-09-18T08:56:30.078" v="1147" actId="20578"/>
        <pc:sldMkLst>
          <pc:docMk/>
          <pc:sldMk cId="4027953096" sldId="406"/>
        </pc:sldMkLst>
      </pc:sldChg>
      <pc:sldChg chg="add ord">
        <pc:chgData name="Iain Styles" userId="befbdaae-53f8-4d26-a8dc-3366b09f768a" providerId="ADAL" clId="{5E0D2633-D8F6-500D-A7FC-C9CB56BC4BFB}" dt="2026-09-18T08:56:30.078" v="1147" actId="20578"/>
        <pc:sldMkLst>
          <pc:docMk/>
          <pc:sldMk cId="2553809799" sldId="409"/>
        </pc:sldMkLst>
      </pc:sldChg>
      <pc:sldChg chg="add ord">
        <pc:chgData name="Iain Styles" userId="befbdaae-53f8-4d26-a8dc-3366b09f768a" providerId="ADAL" clId="{5E0D2633-D8F6-500D-A7FC-C9CB56BC4BFB}" dt="2026-09-18T08:56:30.078" v="1147" actId="20578"/>
        <pc:sldMkLst>
          <pc:docMk/>
          <pc:sldMk cId="3521292658" sldId="411"/>
        </pc:sldMkLst>
      </pc:sldChg>
      <pc:sldChg chg="add ord">
        <pc:chgData name="Iain Styles" userId="befbdaae-53f8-4d26-a8dc-3366b09f768a" providerId="ADAL" clId="{5E0D2633-D8F6-500D-A7FC-C9CB56BC4BFB}" dt="2026-09-18T08:56:30.078" v="1147" actId="20578"/>
        <pc:sldMkLst>
          <pc:docMk/>
          <pc:sldMk cId="76348745" sldId="412"/>
        </pc:sldMkLst>
      </pc:sldChg>
      <pc:sldChg chg="add ord">
        <pc:chgData name="Iain Styles" userId="befbdaae-53f8-4d26-a8dc-3366b09f768a" providerId="ADAL" clId="{5E0D2633-D8F6-500D-A7FC-C9CB56BC4BFB}" dt="2026-09-18T08:56:30.078" v="1147" actId="20578"/>
        <pc:sldMkLst>
          <pc:docMk/>
          <pc:sldMk cId="4112789539" sldId="609"/>
        </pc:sldMkLst>
      </pc:sldChg>
      <pc:sldChg chg="add ord">
        <pc:chgData name="Iain Styles" userId="befbdaae-53f8-4d26-a8dc-3366b09f768a" providerId="ADAL" clId="{5E0D2633-D8F6-500D-A7FC-C9CB56BC4BFB}" dt="2026-09-18T08:56:30.078" v="1147" actId="20578"/>
        <pc:sldMkLst>
          <pc:docMk/>
          <pc:sldMk cId="2095195583" sldId="610"/>
        </pc:sldMkLst>
      </pc:sldChg>
      <pc:sldChg chg="add">
        <pc:chgData name="Iain Styles" userId="befbdaae-53f8-4d26-a8dc-3366b09f768a" providerId="ADAL" clId="{5E0D2633-D8F6-500D-A7FC-C9CB56BC4BFB}" dt="2026-09-18T08:55:48.442" v="1144"/>
        <pc:sldMkLst>
          <pc:docMk/>
          <pc:sldMk cId="1928012908" sldId="611"/>
        </pc:sldMkLst>
      </pc:sldChg>
      <pc:sldChg chg="add mod setBg modShow">
        <pc:chgData name="Iain Styles" userId="befbdaae-53f8-4d26-a8dc-3366b09f768a" providerId="ADAL" clId="{5E0D2633-D8F6-500D-A7FC-C9CB56BC4BFB}" dt="2026-09-18T09:00:18.822" v="1153"/>
        <pc:sldMkLst>
          <pc:docMk/>
          <pc:sldMk cId="2106864622" sldId="61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0:04:13.166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4947 8552 7533,'-63'0'-720,"25"0"540,27 0 360,14 0 1169,19-5-1439,-20 4 180,9-5-90,-11 6 360,66 17-360,-28-13 225,21 6 0,19 2-180,-26-9 0,9-1 0,5-1 0,1-1 0,-3 0 0,-8 1-75,8 0 0,-7-1 0,14 0 62,-22 0 1,9-1 0,8-1-1,4 1 1,4-1 0,0 0 0,-1 0-1,-4 0 1,-5 0 0,-8 0 0,-9 0-458,10-1 1,-12-1 0,9 0 436,-4 1 1,9-1 0,4 0 0,3 1 0,1-1 0,-2 2 0,-3 0-38,1 1 0,-2 2 1,-1 0-1,0 0 1,1 1-1,0 0 70,3-1 0,1 1 0,-1 1 0,1-1 0,0 0 0,1 0-45,2-1 0,1 0 0,1 0 0,-1 0 0,-1 0 0,-2 2 90,5 2 0,1 0 0,-3 2 0,-8-1 0,-11-1-135,-10-1 0,-7 1 45,7 8 0,-6 3 0,-4 9 0,-41 6 0</inkml:trace>
  <inkml:trace contextRef="#ctx0" brushRef="#br0" timeOffset="1279">10583 8824 6273,'64'-10'220,"-1"0"1,0 0 0,0 0 0,1 0 0,-1 0 0,0 0 0,0 0-1,-3-2 1,-10 0 0,3 0 0,17 0-196,-28 6 1,8 0 0,5 0-1,6 0 1,5 0 0,4-1 0,4 1-1,2 0 1,2-1 0,2 1-1,0 0 1,0-1 0,-1 1 0,-1 0-1,-3 1 1,-2-1 0,-4 1 0,-4 0-1,-5 0 1,-5 1 0,-7-1-224,33-2 0,-16 1 0,-6 0 0,4 0 0,13 0 198,-20 2 0,9-1 0,7 0 0,5-1 0,4 1 0,2-1 0,-1 1 0,-1 0 0,-3 0 0,-6 1 0,-7 1 0,-9 1 0,-11 1 0,-12 1 0,22 7 0,-19 10 0,-1 0 0</inkml:trace>
  <inkml:trace contextRef="#ctx0" brushRef="#br0" timeOffset="4404">10485 7716 7533,'-25'0'-720,"12"0"900,2-11-90,22-3 0,15-5 0,5-3 270,16-12-181,-14 15 1,-6-4 630,-27-40-900,-39 14-90,12 10 0,-9 0 30,-6 9 0,-9 1 0,5 4 150,7 2 0,-1 1-30,-18-2 0,-10-1 1,2 7 58,19 10 1,2 4 0,-5 1 60,-7-1 0,-6 0 0,-1 1 0,5 1-246,-2 1 0,4 2 0,0 1 186,-6 3 0,0 2 0,3 4 30,10 2 0,2 4 0,4 7-60,-3 15 0,3 9 0,3 1-30,3-4 0,3 2 0,4 4 7,9-3 1,1 5-1,6 1 1,8 0-23,11-2 0,8 1 0,3-1 0,-3-3 45,-6 1 0,-1-4 0,6 2 0,10 0 0,6 2 0,5-1 0,0-8 30,6-3 0,3-7 0,6-1 24,0-5 0,6-2 0,3 0 0,0-2 0,-2-2-54,-2-2 0,-2-1 0,0-3 0,5-2-81,6-2 1,4-2 0,3-2 0,-2-3-1,-3-3 328,-1-4 1,-5-3-1,2-3 1,4-1-9,-5 1 1,6-2 0,1-2 0,0 0 0,-1 0 0,-6 0-195,8-3 0,-5 0 0,-1-1 0,2-3 81,-2-1 0,3-2 0,0-2 0,-7-1 0,-11-1 188,8-19 1,-24-7-855,-27-1 1,-15-6-1,-6 6 450,-2 5 0,-15 7-101,-4 16 0,-14 0 0,-9 2 0,-2 2 0,2 4 0,9 6 0,-7 6 0,5 8 0,-5-1 0,-4-4 0,0 0 0,0 0 0,0 0 0,0 0 0</inkml:trace>
  <inkml:trace contextRef="#ctx0" brushRef="#br0" timeOffset="205587">5267 13192 6004,'0'-20'809,"0"-2"270,-11 21-989,8-5 360,-8 6-90,11 0 1079,0-5-1349,0 3 630,0-3-540,0 5 89,0 0 721,0-11-271,0 8-629,0-8 1214,5 67 1,1 25-1215,-3-36-690,2 9 0,2 12 1,3-19 599,4-30 0,10 0 0,1-30 0</inkml:trace>
  <inkml:trace contextRef="#ctx0" brushRef="#br0" timeOffset="206247">5538 13586 17607,'3'-62'314,"-1"0"1,1 0 0,0 0 0,-1 0 0,1 0 0,0 1 0,-2-6-1,-1 6 1,4 3 0,10 2-2773,17-7 0,11-1 1,4 8-1,-6 17-207,23 10 2511,-12 56 0,4 21 0,-27-7 0,-58-5 0,8-6 0,0 0 0</inkml:trace>
  <inkml:trace contextRef="#ctx0" brushRef="#br0" timeOffset="206514">5661 13143 7533,'38'-33'7016,"-32"10"-8546,40 17 1,9 12 1529,-14 12 0,-14-9 0,-19 8 0</inkml:trace>
  <inkml:trace contextRef="#ctx0" brushRef="#br0" timeOffset="206795">5341 12959 7533,'-8'-58'1079,"27"21"0,25 29 1,-1 0-1</inkml:trace>
  <inkml:trace contextRef="#ctx0" brushRef="#br0" timeOffset="220060">6842 12774 6723,'0'-14'1259,"0"-8"-1169,0 14 1619,-11-32-1439,9 28 630,-20-26-1980,19 30 1080,-8-5 540,11 57-1161,-3 13 0,-1 17 0,0-7 666,3-11 0,-1 0-75,-1 11 0,-2 6 0,2-6 525,3-2 0,0-11-136,0-13-1169,0 15 1,0-19 539,0-44-1259,11 0 1529,-8-4 0,8-1 0,-11-7 0</inkml:trace>
  <inkml:trace contextRef="#ctx0" brushRef="#br0" timeOffset="220443">6744 13131 7803,'35'-21'149,"1"1"1,2 1 0,3 5-150,25 11 0,-3 6 0,-6 2 0,-73 2 0</inkml:trace>
  <inkml:trace contextRef="#ctx0" brushRef="#br0" timeOffset="221147">7236 12749 7533,'-11'-57'2248,"8"35"-1168,-8 27-1080,6 29 0,6 24 0,5 9 0,3-11 180,18 6 0,4-2-330,-16-5 0,-3 4 0,7-15-377,12-16 1,-2-19-104,-7-40 360,-22 99 270,22-26 0,-5-25 0,18-30 0</inkml:trace>
  <inkml:trace contextRef="#ctx0" brushRef="#br0" timeOffset="222223">7679 13279 7083,'36'1'2608,"13"-8"-2113,-8-19 0,-8-11 764,-22-31-1349,11 28 0,-9 14-90,-58 49 0,-8 20 450,36-5 150,19 12 0,10 13 0,7-20-420,28-32 0,0 11 0,-12-9 0,-41-30 0</inkml:trace>
  <inkml:trace contextRef="#ctx0" brushRef="#br0" timeOffset="223222">8984 13020 7533,'13'-14'989,"-2"-13"-89,-55 6-900,33 1-270,-33 25 0,1 23 929,48 15 1,20 15 0,-11-5-435,-27-10 0,-4-1 44,13 12 1,3 4 0,-5-28-6207,-11-41 5937,-37 9 0,89-15 0,17 10 0</inkml:trace>
  <inkml:trace contextRef="#ctx0" brushRef="#br0" timeOffset="223893">9279 13118 9512,'0'-39'1259,"-11"5"-1934,-9 57 1,4 18 179,32-1 0,4 3 675,-28 8 0,8-13 1394,58-51 0,7-23-1934,-38 6 270,4-34 0,4 18-1139,-8 75 0,1 31 0,-7-9 1229,-2-6 0,26 19 0,-2-24 0,-29-81 0</inkml:trace>
  <inkml:trace contextRef="#ctx0" brushRef="#br0" timeOffset="225149">9870 13168 7533,'0'-25'2069,"0"11"-1800,0 3-359,0 17 90,0 12 630,0 18 0,0 3-540,0-6 2518,21-28-3148,-4-53 510,3 6 0,7-7 1,-6 6-151,1-6 1574,27 76 0,1 23-3103,-26 7 389,-3-7 1,4 7 0,-2-16 1319,1-25 0,1-39 0,-1-10 0</inkml:trace>
  <inkml:trace contextRef="#ctx0" brushRef="#br0" timeOffset="226041">10829 13045 7982,'14'-21'990,"-3"-1"-181,-11 20 361,11 8-900,-8 8 854,8 42 0,0 11-1573,-9-1 314,4-5 0,-1-6-945,-5-33 1080,0-29 0,22-11 0,6-1 0</inkml:trace>
  <inkml:trace contextRef="#ctx0" brushRef="#br0" timeOffset="226720">11322 13057 7533,'35'-29'7196,"-18"2"-7017,5 1-358,-33 4-1620,-27 23 0,-4 13 2518,12 29-494,-13-31 0,10 3 194,51 17 1,24 11 0,-15-3 299,-37-6 1,-2-1-1799,42 10 0,-5-3 1079,-74 4 0,38-40 0,24-3 0</inkml:trace>
  <inkml:trace contextRef="#ctx0" brushRef="#br0" timeOffset="227032">11002 12774 7533,'-19'-30'0,"13"20"0,55 0 0</inkml:trace>
  <inkml:trace contextRef="#ctx0" brushRef="#br0" timeOffset="230214">12503 12983 13199,'25'-19'1530,"-12"7"-1081,-2-10-898,-11 17-721,0-11-44,-41 21 0,-16 12 2068,11-2 1,2 3-361,-1 2 1,8 5 1394,12 23-1440,48-13 1,18 6 0,-20-4-3194,-47-6 1,-3 0 1079,40 12 0,-3-4 1664,-61-23 0,8-14 0,78-13 0,8 18 0</inkml:trace>
  <inkml:trace contextRef="#ctx0" brushRef="#br0" timeOffset="232242">12331 13155 5824,'0'-12'899,"0"5"181,0 2-721,0-1 1081,-11-1-1351,8 0 631,-8 2 1259,11-6-2159,0 8 630,11 20 539,4 16 1,-5 6-856,-21 2 1,-6 0 1034,9 2 1,-5-5-900,-39-4-2519,-3-63 1889,49 16-4857,-15-15 4768,31 30 449,-7 3 0,30 1 0,-6 1 0</inkml:trace>
  <inkml:trace contextRef="#ctx0" brushRef="#br0" timeOffset="234206">12798 12737 5824,'14'-13'2428,"-3"1"-1888,-11 0 270,0 0-631,0 5 271,0-4 0,-11 10 90,-3-10-361,1 9 91,2-3-450,11 5 270,0 0 0,0 5 270,-11 13 269,9 20 1,1 5-360,-10 7 30,12-7 0,5 8 0,-2-4-31,-2-3 1,-1 0 180,5 21 0,-1-2-360,-5 4 90,0-17 629,0-56 541,0-17-1171,0 6-448,11-28-451,2 7 225,4-1 1,2 0 494,8-6-180,-2-11 404,3 76 1,-1 13 135,-16-13-480,5 23 0,5 14 0,-4-12-9144,-3-13 9264,2 11 0,4-10 0,7-39 0,8-6 0</inkml:trace>
  <inkml:trace contextRef="#ctx0" brushRef="#br0" timeOffset="234845">13241 13093 12120,'-10'30'3238,"7"-26"-3238,-7 35 0,9 6 0,23-28 0,5-53 0</inkml:trace>
  <inkml:trace contextRef="#ctx0" brushRef="#br0" timeOffset="236161">13414 13143 5824,'0'-41'3508,"0"12"-3418,0-1 2068,11 3-1528,-9 22 0,9 5-630,11 65 90,-16-23 809,37 10-719,-37-49-450,38-48 1169,-25 1 1,0 9-2879,11 35 1979,14-48-405,-43 77 1,1 14-1035,41 6 1169,-24-17-900,17 6 1170,-14-43 0,-30-8 0,5-6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FC901-D9AB-DDFD-52CB-BC1C5201C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344FC-A7E7-FB9B-78C9-A9B403A40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78444-1C32-8A36-AFA7-ECC0BB1E8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39D4C5-E4C6-5BEA-3E64-4EC2DD740EE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494C6-EDA2-0B08-86C0-293175B23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17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807" y="5782559"/>
            <a:ext cx="1832169" cy="705600"/>
          </a:xfrm>
          <a:prstGeom prst="rect">
            <a:avLst/>
          </a:prstGeom>
        </p:spPr>
      </p:pic>
      <p:sp>
        <p:nvSpPr>
          <p:cNvPr id="6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8640" y="377254"/>
            <a:ext cx="10728960" cy="14022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 baseline="0">
                <a:solidFill>
                  <a:srgbClr val="D6000D"/>
                </a:solidFill>
              </a:defRPr>
            </a:lvl1pPr>
          </a:lstStyle>
          <a:p>
            <a:pPr lvl="0"/>
            <a:r>
              <a:rPr lang="en-US"/>
              <a:t>TITLE GOES HERE IN UPPERCASE BOLD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548640" y="2171700"/>
            <a:ext cx="9052560" cy="4316459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buFont typeface="Arial" charset="0"/>
              <a:buChar char="•"/>
              <a:defRPr sz="21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Cum </a:t>
            </a:r>
            <a:r>
              <a:rPr lang="en-US" err="1"/>
              <a:t>sociis</a:t>
            </a:r>
            <a:r>
              <a:rPr lang="en-US"/>
              <a:t>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 </a:t>
            </a:r>
          </a:p>
          <a:p>
            <a:pPr lvl="0"/>
            <a:r>
              <a:rPr lang="en-US" err="1"/>
              <a:t>Magnis</a:t>
            </a:r>
            <a:r>
              <a:rPr lang="en-US"/>
              <a:t> dis parturient </a:t>
            </a:r>
            <a:r>
              <a:rPr lang="en-US" err="1"/>
              <a:t>montes</a:t>
            </a:r>
            <a:endParaRPr lang="en-US"/>
          </a:p>
          <a:p>
            <a:pPr lvl="0"/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 lacus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laoreet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0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  <p:sldLayoutId id="2147483739" r:id="rId16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1: Logic </a:t>
            </a:r>
            <a:r>
              <a:rPr lang="en-US"/>
              <a:t>in 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415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8F420-8FD3-BC84-2159-1284AA65D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6466490" cy="632219"/>
          </a:xfrm>
        </p:spPr>
        <p:txBody>
          <a:bodyPr/>
          <a:lstStyle/>
          <a:p>
            <a:r>
              <a:rPr lang="en-GB" dirty="0"/>
              <a:t>Logical Reasoning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1FD57-5AF8-9A86-3EDF-8AB6AB7A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493917A6-42C9-39B1-6F89-C62C24F98C9C}"/>
              </a:ext>
            </a:extLst>
          </p:cNvPr>
          <p:cNvGraphicFramePr>
            <a:graphicFrameLocks noGrp="1"/>
          </p:cNvGraphicFramePr>
          <p:nvPr/>
        </p:nvGraphicFramePr>
        <p:xfrm>
          <a:off x="1920105" y="1723850"/>
          <a:ext cx="3580092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788">
                  <a:extLst>
                    <a:ext uri="{9D8B030D-6E8A-4147-A177-3AD203B41FA5}">
                      <a16:colId xmlns:a16="http://schemas.microsoft.com/office/drawing/2014/main" val="3678074355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1699260231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3158615965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1469432819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4252918278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3820923377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2778976473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4168917412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259560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41563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24959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18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8611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48041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305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6000D"/>
                          </a:solidFill>
                        </a:rPr>
                        <a:t>?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25398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6591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95412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DB4810C-7148-1911-8147-F936F583E8DE}"/>
              </a:ext>
            </a:extLst>
          </p:cNvPr>
          <p:cNvSpPr txBox="1"/>
          <p:nvPr/>
        </p:nvSpPr>
        <p:spPr>
          <a:xfrm>
            <a:off x="7243380" y="413776"/>
            <a:ext cx="492584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Einstein’s Riddle</a:t>
            </a:r>
          </a:p>
          <a:p>
            <a:pPr>
              <a:buFont typeface="+mj-lt"/>
              <a:buAutoNum type="arabicPeriod"/>
            </a:pPr>
            <a:r>
              <a:rPr lang="en-GB" dirty="0"/>
              <a:t>There are five houses.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Englishman lives in the red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Spaniard owns the dog.</a:t>
            </a:r>
          </a:p>
          <a:p>
            <a:pPr>
              <a:buFont typeface="+mj-lt"/>
              <a:buAutoNum type="arabicPeriod"/>
            </a:pPr>
            <a:r>
              <a:rPr lang="en-GB" dirty="0"/>
              <a:t>Coffee is drunk in the green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Ukrainian drinks tea.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green house is immediately to the right of the ivory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Old Gold smoker owns snails.</a:t>
            </a:r>
          </a:p>
          <a:p>
            <a:pPr>
              <a:buFont typeface="+mj-lt"/>
              <a:buAutoNum type="arabicPeriod"/>
            </a:pPr>
            <a:r>
              <a:rPr lang="en-GB" dirty="0" err="1"/>
              <a:t>Kools</a:t>
            </a:r>
            <a:r>
              <a:rPr lang="en-GB" dirty="0"/>
              <a:t> are smoked in the yellow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Milk is drunk in the middle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Norwegian lives in the first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man who smokes Chesterfields lives in the house next to the man with the fox.</a:t>
            </a:r>
          </a:p>
          <a:p>
            <a:pPr>
              <a:buFont typeface="+mj-lt"/>
              <a:buAutoNum type="arabicPeriod"/>
            </a:pPr>
            <a:r>
              <a:rPr lang="en-GB" dirty="0" err="1"/>
              <a:t>Kools</a:t>
            </a:r>
            <a:r>
              <a:rPr lang="en-GB" dirty="0"/>
              <a:t> are smoked in the house next to the house where the horse is kept.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Lucky Strike smoker drinks orange juice.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Japanese smokes Parliaments.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Norwegian lives next to the blue house.</a:t>
            </a:r>
          </a:p>
          <a:p>
            <a:endParaRPr lang="en-GB" dirty="0"/>
          </a:p>
          <a:p>
            <a:r>
              <a:rPr lang="en-GB" b="1" dirty="0"/>
              <a:t>Who drinks water?</a:t>
            </a:r>
          </a:p>
          <a:p>
            <a:r>
              <a:rPr lang="en-GB" b="1" dirty="0"/>
              <a:t>Who owns the zebra? </a:t>
            </a:r>
          </a:p>
        </p:txBody>
      </p:sp>
    </p:spTree>
    <p:extLst>
      <p:ext uri="{BB962C8B-B14F-4D97-AF65-F5344CB8AC3E}">
        <p14:creationId xmlns:p14="http://schemas.microsoft.com/office/powerpoint/2010/main" val="1496860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A963-9BEF-4183-42A9-E5B9658A3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1606048" cy="632219"/>
          </a:xfrm>
        </p:spPr>
        <p:txBody>
          <a:bodyPr/>
          <a:lstStyle/>
          <a:p>
            <a:r>
              <a:rPr lang="en-US" dirty="0"/>
              <a:t>Graph Representations of Knowledge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41DD5-A4E6-29C8-2B6F-086839C8A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0B0EB6-F325-968A-A7F4-1980D6EB5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94981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032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C9A62-E561-51B6-9EDD-F13FF08F6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362903" cy="632219"/>
          </a:xfrm>
        </p:spPr>
        <p:txBody>
          <a:bodyPr/>
          <a:lstStyle/>
          <a:p>
            <a:r>
              <a:rPr lang="en-US" dirty="0"/>
              <a:t>Probabilistic Reasoning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C28BC-6D00-3057-4E91-E3130D037A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56E30-C871-224B-8292-C2E49478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4" descr="Directed acyclic graph - Wikipedia">
            <a:extLst>
              <a:ext uri="{FF2B5EF4-FFF2-40B4-BE49-F238E27FC236}">
                <a16:creationId xmlns:a16="http://schemas.microsoft.com/office/drawing/2014/main" id="{9919D384-09FC-22FF-A023-23BFF72CC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675" y="1487367"/>
            <a:ext cx="3018758" cy="414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undefined">
            <a:extLst>
              <a:ext uri="{FF2B5EF4-FFF2-40B4-BE49-F238E27FC236}">
                <a16:creationId xmlns:a16="http://schemas.microsoft.com/office/drawing/2014/main" id="{B2B2A22C-6268-7C12-1A22-4180E4FCF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942" y="2082459"/>
            <a:ext cx="4628284" cy="2956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10FA4D-4221-C927-359D-797E66198B7E}"/>
              </a:ext>
            </a:extLst>
          </p:cNvPr>
          <p:cNvSpPr txBox="1"/>
          <p:nvPr/>
        </p:nvSpPr>
        <p:spPr>
          <a:xfrm>
            <a:off x="4520242" y="5715950"/>
            <a:ext cx="762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P(</a:t>
            </a:r>
            <a:r>
              <a:rPr lang="en-US" sz="2800" dirty="0" err="1"/>
              <a:t>a,b,c,d,e</a:t>
            </a:r>
            <a:r>
              <a:rPr lang="en-US" sz="2800" dirty="0"/>
              <a:t>)=P(</a:t>
            </a:r>
            <a:r>
              <a:rPr lang="en-US" sz="2800" dirty="0" err="1"/>
              <a:t>e|a,c,d</a:t>
            </a:r>
            <a:r>
              <a:rPr lang="en-US" sz="2800" dirty="0"/>
              <a:t>) P(</a:t>
            </a:r>
            <a:r>
              <a:rPr lang="en-US" sz="2800" dirty="0" err="1"/>
              <a:t>d|a,b,c</a:t>
            </a:r>
            <a:r>
              <a:rPr lang="en-US" sz="2800" dirty="0"/>
              <a:t>) P(</a:t>
            </a:r>
            <a:r>
              <a:rPr lang="en-US" sz="2800" dirty="0" err="1"/>
              <a:t>b|a</a:t>
            </a:r>
            <a:r>
              <a:rPr lang="en-US" sz="2800" dirty="0"/>
              <a:t>) P(</a:t>
            </a:r>
            <a:r>
              <a:rPr lang="en-US" sz="2800" dirty="0" err="1"/>
              <a:t>c|a</a:t>
            </a:r>
            <a:r>
              <a:rPr lang="en-US" sz="2800" dirty="0"/>
              <a:t>) P(a)</a:t>
            </a:r>
          </a:p>
        </p:txBody>
      </p:sp>
    </p:spTree>
    <p:extLst>
      <p:ext uri="{BB962C8B-B14F-4D97-AF65-F5344CB8AC3E}">
        <p14:creationId xmlns:p14="http://schemas.microsoft.com/office/powerpoint/2010/main" val="192801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Monte-Carlo tree search in AlphaGo . a Each simulation traverses the tree by selecting the edge with maximum action-value Q , plus a bonus u ( P ) that depends on a stored prior probability P for that edge. b The leaf node may be expanded; the new node is processed once by the policy network p σ and the output probabilities are stored as prior probabilities P for each action. ">
            <a:extLst>
              <a:ext uri="{FF2B5EF4-FFF2-40B4-BE49-F238E27FC236}">
                <a16:creationId xmlns:a16="http://schemas.microsoft.com/office/drawing/2014/main" id="{487B3CCE-E903-8AFF-ED45-B52E11457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314" y="4084660"/>
            <a:ext cx="5929686" cy="2016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81419"/>
            <a:ext cx="10671313" cy="632219"/>
          </a:xfrm>
        </p:spPr>
        <p:txBody>
          <a:bodyPr/>
          <a:lstStyle/>
          <a:p>
            <a:r>
              <a:rPr dirty="0"/>
              <a:t>Symbol Manipulation and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8200" y="1107853"/>
            <a:ext cx="5602357" cy="4905623"/>
          </a:xfrm>
        </p:spPr>
        <p:txBody>
          <a:bodyPr>
            <a:normAutofit fontScale="92500" lnSpcReduction="10000"/>
          </a:bodyPr>
          <a:lstStyle/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Early AI researchers regarded reasoning as central to intelligence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Minsky, McCarthy et al placed great emphasis on symbol manipulation</a:t>
            </a: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dirty="0"/>
              <a:t>Expert systems were very popular in the 1970s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Why?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And why did </a:t>
            </a:r>
            <a:r>
              <a:rPr lang="en-US" dirty="0"/>
              <a:t>symbolic AI</a:t>
            </a:r>
            <a:r>
              <a:rPr dirty="0"/>
              <a:t> </a:t>
            </a:r>
            <a:r>
              <a:rPr lang="en-US" dirty="0"/>
              <a:t>"</a:t>
            </a:r>
            <a:r>
              <a:rPr dirty="0"/>
              <a:t>fail</a:t>
            </a:r>
            <a:r>
              <a:rPr lang="en-US" dirty="0"/>
              <a:t>"</a:t>
            </a:r>
            <a:r>
              <a:rPr dirty="0"/>
              <a:t>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Lots of current effort to get ML systems to do symbol manipulation</a:t>
            </a:r>
            <a:endParaRPr lang="en-US" dirty="0"/>
          </a:p>
          <a:p>
            <a:pPr marL="1257277" lvl="2" indent="-342900">
              <a:buFont typeface="Arial" panose="020B0604020202020204" pitchFamily="34" charset="0"/>
              <a:buChar char="•"/>
            </a:pPr>
            <a:r>
              <a:rPr lang="en-GB" dirty="0"/>
              <a:t>AlphaGo, </a:t>
            </a:r>
            <a:r>
              <a:rPr lang="en-GB" dirty="0" err="1"/>
              <a:t>AlphaFold</a:t>
            </a:r>
            <a:r>
              <a:rPr lang="en-GB" dirty="0"/>
              <a:t> both include elements of symbolic reasoning</a:t>
            </a:r>
            <a:endParaRPr dirty="0"/>
          </a:p>
        </p:txBody>
      </p:sp>
      <p:pic>
        <p:nvPicPr>
          <p:cNvPr id="1026" name="Picture 2" descr="How John McCarthy Shaped the Future of AI">
            <a:extLst>
              <a:ext uri="{FF2B5EF4-FFF2-40B4-BE49-F238E27FC236}">
                <a16:creationId xmlns:a16="http://schemas.microsoft.com/office/drawing/2014/main" id="{194228E6-628D-208D-896B-DB06697B7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898" y="1107853"/>
            <a:ext cx="3827280" cy="261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468F2-C985-FE17-9901-7F59D163E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7070A-972D-F37F-B9B5-BE52859ABD71}"/>
              </a:ext>
            </a:extLst>
          </p:cNvPr>
          <p:cNvSpPr txBox="1"/>
          <p:nvPr/>
        </p:nvSpPr>
        <p:spPr>
          <a:xfrm>
            <a:off x="108154" y="79191"/>
            <a:ext cx="93308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Limitation of Expert Systems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4BBFBC-0D80-45E3-18FD-10164CDDE375}"/>
              </a:ext>
            </a:extLst>
          </p:cNvPr>
          <p:cNvSpPr txBox="1"/>
          <p:nvPr/>
        </p:nvSpPr>
        <p:spPr>
          <a:xfrm>
            <a:off x="334296" y="1005418"/>
            <a:ext cx="5968182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Inflexible to Uncertainty</a:t>
            </a:r>
          </a:p>
          <a:p>
            <a:pPr lvl="0" algn="just">
              <a:lnSpc>
                <a:spcPct val="150000"/>
              </a:lnSpc>
            </a:pPr>
            <a:r>
              <a:rPr lang="en-IN" dirty="0"/>
              <a:t>Rule-based systems are exceptionally rigid. They struggle to adapt to unstructured data, edge cases, or scenarios that fall outside of their explicitly programmed logic.</a:t>
            </a:r>
          </a:p>
          <a:p>
            <a:pPr lvl="0" algn="just">
              <a:lnSpc>
                <a:spcPct val="150000"/>
              </a:lnSpc>
            </a:pPr>
            <a:endParaRPr lang="en-IN" dirty="0"/>
          </a:p>
          <a:p>
            <a:pPr lvl="0" algn="just">
              <a:lnSpc>
                <a:spcPct val="150000"/>
              </a:lnSpc>
            </a:pPr>
            <a:endParaRPr lang="en-IN" dirty="0"/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The Knowledge Bottleneck</a:t>
            </a:r>
          </a:p>
          <a:p>
            <a:pPr lvl="0" algn="just">
              <a:lnSpc>
                <a:spcPct val="150000"/>
              </a:lnSpc>
            </a:pPr>
            <a:r>
              <a:rPr lang="en-IN" dirty="0"/>
              <a:t>Also known as the "Knowledge Acquisition Bottleneck." It is practically impossible to manually code every single rule required to handle complex, real-world variability.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555E67-36AC-3035-7EC8-5BC3BA53F9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181"/>
          <a:stretch>
            <a:fillRect/>
          </a:stretch>
        </p:blipFill>
        <p:spPr>
          <a:xfrm>
            <a:off x="6529562" y="1792316"/>
            <a:ext cx="5528788" cy="29173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CE41866-E9CE-7422-4162-1E078AA83756}"/>
              </a:ext>
            </a:extLst>
          </p:cNvPr>
          <p:cNvSpPr txBox="1"/>
          <p:nvPr/>
        </p:nvSpPr>
        <p:spPr>
          <a:xfrm>
            <a:off x="7071852" y="4749419"/>
            <a:ext cx="4608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MYCIN: A 1970s Medical Expert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7953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C30B7-3097-80F4-7165-6EC8C2681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2D68CE-2E22-DE49-708A-D16688474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9194F3-760B-7512-8DBA-17ED0CAA750F}"/>
              </a:ext>
            </a:extLst>
          </p:cNvPr>
          <p:cNvSpPr txBox="1"/>
          <p:nvPr/>
        </p:nvSpPr>
        <p:spPr>
          <a:xfrm>
            <a:off x="285134" y="206080"/>
            <a:ext cx="86917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0"/>
              </a:spcAft>
            </a:pPr>
            <a:r>
              <a:rPr lang="en-IN" sz="3200" b="1" dirty="0"/>
              <a:t>The Data-Driven Era: Machine Learning</a:t>
            </a:r>
            <a:endParaRPr lang="en-IN" sz="3200" b="1" i="0" dirty="0">
              <a:solidFill>
                <a:srgbClr val="F8FAFC"/>
              </a:solidFill>
              <a:effectLst/>
              <a:latin typeface="Outfi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811C2E-F5F9-5BBB-BA76-5FE966C6BDBF}"/>
              </a:ext>
            </a:extLst>
          </p:cNvPr>
          <p:cNvSpPr txBox="1"/>
          <p:nvPr/>
        </p:nvSpPr>
        <p:spPr>
          <a:xfrm>
            <a:off x="462116" y="1539899"/>
            <a:ext cx="5348749" cy="4011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>
              <a:spcAft>
                <a:spcPts val="1125"/>
              </a:spcAft>
              <a:buNone/>
            </a:pPr>
            <a:r>
              <a:rPr lang="en-IN" sz="1800" b="1" i="0" dirty="0">
                <a:effectLst/>
                <a:latin typeface="+mn-lt"/>
              </a:rPr>
              <a:t>The Statistical Shift</a:t>
            </a:r>
          </a:p>
          <a:p>
            <a:pPr marL="342900" marR="0" lvl="0" indent="-342900" algn="just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effectLst/>
                <a:latin typeface="+mn-lt"/>
              </a:rPr>
              <a:t>The Paradigm:</a:t>
            </a:r>
            <a:r>
              <a:rPr lang="en-IN" sz="1800" b="0" i="0" dirty="0">
                <a:effectLst/>
                <a:latin typeface="+mn-lt"/>
              </a:rPr>
              <a:t> Algorithms learn statistical patterns from historical data, replacing explicitly programmed rules.</a:t>
            </a:r>
          </a:p>
          <a:p>
            <a:pPr marL="342900" marR="0" lvl="0" indent="-342900" algn="just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effectLst/>
                <a:latin typeface="+mn-lt"/>
              </a:rPr>
              <a:t>How it Works:</a:t>
            </a:r>
            <a:r>
              <a:rPr lang="en-IN" sz="1800" b="0" i="0" dirty="0">
                <a:effectLst/>
                <a:latin typeface="+mn-lt"/>
              </a:rPr>
              <a:t> Optimizes mathematical models based on structured data and human-engineered features.</a:t>
            </a:r>
          </a:p>
          <a:p>
            <a:pPr marL="342900" marR="0" lvl="0" indent="-342900" algn="just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effectLst/>
                <a:latin typeface="+mn-lt"/>
              </a:rPr>
              <a:t>Strengths:</a:t>
            </a:r>
            <a:r>
              <a:rPr lang="en-IN" sz="1800" b="0" i="0" dirty="0">
                <a:effectLst/>
                <a:latin typeface="+mn-lt"/>
              </a:rPr>
              <a:t> Highly scalable; handles uncertainty and noisy data much more gracefully than GOFAI.</a:t>
            </a:r>
          </a:p>
          <a:p>
            <a:pPr marL="342900" marR="0" lvl="0" indent="-342900" algn="just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effectLst/>
                <a:latin typeface="+mn-lt"/>
              </a:rPr>
              <a:t>The Bottleneck:</a:t>
            </a:r>
            <a:r>
              <a:rPr lang="en-IN" sz="1800" b="0" i="0" dirty="0">
                <a:effectLst/>
                <a:latin typeface="+mn-lt"/>
              </a:rPr>
              <a:t> Heavily reliant on manual feature engineering; struggles with raw, unstructured data.</a:t>
            </a:r>
            <a:endParaRPr lang="en-IN" sz="1500" b="0" i="0" dirty="0">
              <a:effectLst/>
              <a:latin typeface="Inter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3A73341-A299-A074-A456-9F7336CFD62B}"/>
              </a:ext>
            </a:extLst>
          </p:cNvPr>
          <p:cNvGrpSpPr/>
          <p:nvPr/>
        </p:nvGrpSpPr>
        <p:grpSpPr>
          <a:xfrm>
            <a:off x="7806761" y="304735"/>
            <a:ext cx="4558904" cy="5905356"/>
            <a:chOff x="7806761" y="304735"/>
            <a:chExt cx="4558904" cy="5905356"/>
          </a:xfrm>
        </p:grpSpPr>
        <p:pic>
          <p:nvPicPr>
            <p:cNvPr id="7" name="Picture 6" descr="A graph with blue dots&#10;&#10;Description automatically generated">
              <a:extLst>
                <a:ext uri="{FF2B5EF4-FFF2-40B4-BE49-F238E27FC236}">
                  <a16:creationId xmlns:a16="http://schemas.microsoft.com/office/drawing/2014/main" id="{F9281AC1-A832-D2EC-B157-41CD24B17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14968" y="304735"/>
              <a:ext cx="3662007" cy="284896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462667B-630B-F392-351D-12039899F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06761" y="3361129"/>
              <a:ext cx="3878419" cy="284896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04C3FEA-C944-5B18-053E-0F96E54963F5}"/>
                </a:ext>
              </a:extLst>
            </p:cNvPr>
            <p:cNvSpPr txBox="1"/>
            <p:nvPr/>
          </p:nvSpPr>
          <p:spPr>
            <a:xfrm>
              <a:off x="10162067" y="5632159"/>
              <a:ext cx="220359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0" i="0" u="none" strike="noStrike" dirty="0">
                  <a:solidFill>
                    <a:srgbClr val="1C1D20"/>
                  </a:solidFill>
                  <a:effectLst/>
                </a:rPr>
                <a:t>Classification</a:t>
              </a:r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16AE4AD-43F3-C751-08EB-60E6F5F8BAB6}"/>
                </a:ext>
              </a:extLst>
            </p:cNvPr>
            <p:cNvSpPr txBox="1"/>
            <p:nvPr/>
          </p:nvSpPr>
          <p:spPr>
            <a:xfrm>
              <a:off x="8105898" y="2643166"/>
              <a:ext cx="16400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0" i="0" u="none" strike="noStrike" dirty="0">
                  <a:solidFill>
                    <a:schemeClr val="tx2"/>
                  </a:solidFill>
                  <a:effectLst/>
                </a:rPr>
                <a:t>Regression</a:t>
              </a:r>
              <a:endParaRPr lang="en-IN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3809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FEAB6-3ED9-3139-A509-F09A84AF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1994B-2B22-811B-B584-C745D599CF75}"/>
              </a:ext>
            </a:extLst>
          </p:cNvPr>
          <p:cNvSpPr txBox="1"/>
          <p:nvPr/>
        </p:nvSpPr>
        <p:spPr>
          <a:xfrm>
            <a:off x="216309" y="274907"/>
            <a:ext cx="7826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3000"/>
              </a:spcAft>
              <a:buNone/>
            </a:pPr>
            <a:r>
              <a:rPr lang="en-IN" sz="3200" b="1" i="0" dirty="0">
                <a:solidFill>
                  <a:schemeClr val="tx1"/>
                </a:solidFill>
                <a:effectLst/>
                <a:latin typeface="+mn-lt"/>
              </a:rPr>
              <a:t>The Power of Representation: Deep Learning</a:t>
            </a:r>
            <a:endParaRPr lang="en-IN" sz="3200" b="1" i="0" dirty="0">
              <a:solidFill>
                <a:srgbClr val="F8FAFC"/>
              </a:solidFill>
              <a:effectLst/>
              <a:latin typeface="Space Grotes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EE5C03-CBA7-B5D1-7176-23080CAD6C8B}"/>
              </a:ext>
            </a:extLst>
          </p:cNvPr>
          <p:cNvSpPr txBox="1"/>
          <p:nvPr/>
        </p:nvSpPr>
        <p:spPr>
          <a:xfrm>
            <a:off x="294967" y="1416910"/>
            <a:ext cx="5624052" cy="4024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>
              <a:spcAft>
                <a:spcPts val="2250"/>
              </a:spcAft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The Paradigm: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Multi-layered neural networks automatically discover complex representations for feature detection.</a:t>
            </a:r>
          </a:p>
          <a:p>
            <a:pPr marL="0" marR="0" indent="0" algn="just">
              <a:spcAft>
                <a:spcPts val="2250"/>
              </a:spcAft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How it Works: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Learns non-linear mappings directly from raw, unstructured data (e.g., images, text).</a:t>
            </a:r>
          </a:p>
          <a:p>
            <a:pPr marL="0" marR="0" indent="0" algn="just">
              <a:spcAft>
                <a:spcPts val="2250"/>
              </a:spcAft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Strengths: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Achieves unprecedented accuracy in computer vision and NLP; completely eliminates the need for manual feature engineering.</a:t>
            </a:r>
          </a:p>
          <a:p>
            <a:pPr marL="0" marR="0" indent="0" algn="just">
              <a:spcAft>
                <a:spcPts val="2250"/>
              </a:spcAft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The Bottleneck: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The "Black Box" problem. It lacks explainability, requires massive amounts of training data, and cannot perform strict logical reasoning.</a:t>
            </a:r>
            <a:endParaRPr lang="en-IN" sz="1500" b="0" i="0" dirty="0">
              <a:solidFill>
                <a:srgbClr val="CBD5E1"/>
              </a:solidFill>
              <a:effectLst/>
              <a:latin typeface="Inte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5D18F4-5154-3112-5622-483BA97239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73"/>
          <a:stretch>
            <a:fillRect/>
          </a:stretch>
        </p:blipFill>
        <p:spPr>
          <a:xfrm>
            <a:off x="6159870" y="2156180"/>
            <a:ext cx="5850219" cy="220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292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B48C76-A7FC-CC52-2262-C7480198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DF1601-B1DD-D4CD-A1A4-0C06DAF67897}"/>
              </a:ext>
            </a:extLst>
          </p:cNvPr>
          <p:cNvSpPr txBox="1"/>
          <p:nvPr/>
        </p:nvSpPr>
        <p:spPr>
          <a:xfrm>
            <a:off x="255639" y="21760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i="0" u="none" dirty="0">
                <a:solidFill>
                  <a:srgbClr val="0F172A"/>
                </a:solidFill>
              </a:rPr>
              <a:t>The Modern AI Dilemma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25DFB3-5AA4-3AB6-DD60-B29C7FC1E177}"/>
              </a:ext>
            </a:extLst>
          </p:cNvPr>
          <p:cNvSpPr txBox="1"/>
          <p:nvPr/>
        </p:nvSpPr>
        <p:spPr>
          <a:xfrm>
            <a:off x="390601" y="1446830"/>
            <a:ext cx="5459593" cy="36452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ts val="2640"/>
              </a:lnSpc>
              <a:buFont typeface="Arial" panose="020B0604020202020204" pitchFamily="34" charset="0"/>
              <a:buChar char="•"/>
            </a:pPr>
            <a:endParaRPr lang="en-US" b="0" i="0" u="none" dirty="0">
              <a:latin typeface="Calibri (Body)"/>
            </a:endParaRPr>
          </a:p>
          <a:p>
            <a:pPr marL="285750" indent="-285750" algn="just">
              <a:lnSpc>
                <a:spcPts val="2640"/>
              </a:lnSpc>
              <a:buFont typeface="Arial" panose="020B0604020202020204" pitchFamily="34" charset="0"/>
              <a:buChar char="•"/>
            </a:pPr>
            <a:r>
              <a:rPr lang="en-IN" b="1" dirty="0"/>
              <a:t>Large Language Models:</a:t>
            </a:r>
            <a:r>
              <a:rPr lang="en-IN" dirty="0"/>
              <a:t> At their core, LLMs generate text simply by calculating a probability distribution and predicting the most likely "next word" in a sequence.</a:t>
            </a:r>
          </a:p>
          <a:p>
            <a:pPr marL="285750" indent="-285750" algn="just">
              <a:lnSpc>
                <a:spcPts val="264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lnSpc>
                <a:spcPts val="264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The Result (Hallucination):</a:t>
            </a:r>
            <a:r>
              <a:rPr lang="en-IN" dirty="0"/>
              <a:t> Because this foundational mechanism prioritizes statistical likelihood over factual accuracy, the model can confidently string together plausible-sounding but entirely invented information.</a:t>
            </a:r>
          </a:p>
          <a:p>
            <a:pPr algn="just">
              <a:lnSpc>
                <a:spcPts val="2640"/>
              </a:lnSpc>
            </a:pPr>
            <a:endParaRPr lang="en-IN" dirty="0"/>
          </a:p>
          <a:p>
            <a:pPr algn="just">
              <a:lnSpc>
                <a:spcPts val="2640"/>
              </a:lnSpc>
            </a:pPr>
            <a:endParaRPr b="0" i="0" u="none" dirty="0">
              <a:latin typeface="Calibri (Body)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46E1BA1-2AD8-5329-833A-3348B1CB4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597" y="2164585"/>
            <a:ext cx="5576203" cy="218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89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CAF1E-F387-7817-BEBE-E539CBBEB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74C41-7B7D-257B-675D-7F63B60F621A}"/>
              </a:ext>
            </a:extLst>
          </p:cNvPr>
          <p:cNvSpPr txBox="1"/>
          <p:nvPr/>
        </p:nvSpPr>
        <p:spPr>
          <a:xfrm>
            <a:off x="186813" y="18896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tx1">
                    <a:lumMod val="50000"/>
                  </a:schemeClr>
                </a:solidFill>
              </a:rPr>
              <a:t>The Solution: Knowledge Graphs as Guardrails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6C9141-A6C0-00B7-2C35-376E8DBD8A1E}"/>
              </a:ext>
            </a:extLst>
          </p:cNvPr>
          <p:cNvSpPr txBox="1"/>
          <p:nvPr/>
        </p:nvSpPr>
        <p:spPr>
          <a:xfrm>
            <a:off x="294966" y="1079954"/>
            <a:ext cx="11405421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Structured Truth, Not Probability:</a:t>
            </a:r>
            <a:r>
              <a:rPr lang="en-IN" dirty="0"/>
              <a:t> Unlike LLMs, Knowledge Graphs do not guess. They store explicit, mathematically formalized relationships between real-world entities.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Factual Guardrails:</a:t>
            </a:r>
            <a:r>
              <a:rPr lang="en-IN" dirty="0"/>
              <a:t> By connecting an LLM to a Knowledge Graph, we constrain its text generation. It can only speak based on the verified facts it retrieves.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Safe Reasoning:</a:t>
            </a:r>
            <a:r>
              <a:rPr lang="en-IN" dirty="0"/>
              <a:t> The model stops "rolling the dice" for the next word and becomes a transparent reasoning engine grounded in actual truth.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6726BD-2246-E467-3921-C8A5FA88A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914" y="4603566"/>
            <a:ext cx="8238422" cy="206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195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20D8E-2638-A1AC-DFDE-BDABCF505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C7BD5C-AAF8-6240-B0ED-FB0E081D8FFA}"/>
              </a:ext>
            </a:extLst>
          </p:cNvPr>
          <p:cNvSpPr txBox="1"/>
          <p:nvPr/>
        </p:nvSpPr>
        <p:spPr>
          <a:xfrm>
            <a:off x="226141" y="206081"/>
            <a:ext cx="78854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3000"/>
              </a:spcAft>
              <a:buNone/>
            </a:pPr>
            <a:r>
              <a:rPr lang="en-IN" sz="3200" b="1" i="0" dirty="0">
                <a:solidFill>
                  <a:schemeClr val="tx1"/>
                </a:solidFill>
                <a:effectLst/>
                <a:latin typeface="+mn-lt"/>
              </a:rPr>
              <a:t>The Hybrid Future: Neuro-Symbolic AI</a:t>
            </a:r>
            <a:endParaRPr lang="en-IN" sz="3200" b="1" i="0" dirty="0">
              <a:solidFill>
                <a:srgbClr val="F8FAFC"/>
              </a:solidFill>
              <a:effectLst/>
              <a:latin typeface="Space Grotes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2811BB-4559-A820-46A4-4424B22238AC}"/>
              </a:ext>
            </a:extLst>
          </p:cNvPr>
          <p:cNvSpPr txBox="1"/>
          <p:nvPr/>
        </p:nvSpPr>
        <p:spPr>
          <a:xfrm>
            <a:off x="226141" y="1611275"/>
            <a:ext cx="5270092" cy="3903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Bridging the Gap: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Combines the robust learning capabilities of Neural Networks (Deep Learning) with the logical reasoning and explainability of Symbolic AI (GOFAI).</a:t>
            </a:r>
          </a:p>
          <a:p>
            <a:pPr marL="342900" marR="0" lvl="0" indent="-342900" algn="just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Knowledge Graphs: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Uses structured ontologies (nodes and relationships) to ground the "Black Box" predictions of deep learning models in verifiable, factual logic.</a:t>
            </a:r>
          </a:p>
          <a:p>
            <a:pPr marL="342900" marR="0" lvl="0" indent="-342900" algn="just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The Ultimate Goal: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Systems that can learn independently from messy data, yet still reason logically and explain exactly </a:t>
            </a:r>
            <a:r>
              <a:rPr lang="en-IN" sz="1800" b="0" i="1" dirty="0">
                <a:solidFill>
                  <a:schemeClr val="tx1"/>
                </a:solidFill>
                <a:effectLst/>
                <a:latin typeface="+mn-lt"/>
              </a:rPr>
              <a:t>why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they made a decision.</a:t>
            </a:r>
            <a:endParaRPr lang="en-IN" sz="1500" b="0" i="0" dirty="0">
              <a:solidFill>
                <a:srgbClr val="CBD5E1"/>
              </a:solidFill>
              <a:effectLst/>
              <a:latin typeface="Inte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B49029-4DCC-A9EC-75C1-6486C2CAD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401" y="1010708"/>
            <a:ext cx="5617489" cy="483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48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0F3D5E-9D85-3B64-0312-3083D6A9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346244" cy="632219"/>
          </a:xfrm>
        </p:spPr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DFB13F-7034-BFAE-EE4E-1ADA9EC3FA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solidFill>
                  <a:schemeClr val="tx2"/>
                </a:solidFill>
                <a:effectLst/>
              </a:rPr>
              <a:t>Successful students will be able to:</a:t>
            </a:r>
          </a:p>
          <a:p>
            <a:endParaRPr lang="en-GB" sz="2400" dirty="0">
              <a:solidFill>
                <a:schemeClr val="tx2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  <a:effectLst/>
              </a:rPr>
              <a:t>Gain a systematic understanding of knowledge, principles and procedures of knowledge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  <a:effectLst/>
              </a:rPr>
              <a:t>Demonstrate a critical awareness and evaluation of current and complex issues and developments in knowledge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  <a:effectLst/>
              </a:rPr>
              <a:t>Demonstrate critical understanding of research techniques in knowledge engineering and ability to critically evaluate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  <a:effectLst/>
              </a:rPr>
              <a:t>Demonstrate innovative application of the knowledge, principles and procedures of knowledge engineering in making sound judgements and proposing new hypotheses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41B5E-1EDE-1F9A-D487-C8179021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893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0F3D5E-9D85-3B64-0312-3083D6A9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346244" cy="632219"/>
          </a:xfrm>
        </p:spPr>
        <p:txBody>
          <a:bodyPr/>
          <a:lstStyle/>
          <a:p>
            <a:r>
              <a:rPr lang="en-US" dirty="0"/>
              <a:t>Outline Syllabus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DFB13F-7034-BFAE-EE4E-1ADA9EC3FA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Logic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Propositional logic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First order logic 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latin typeface="Helvetica" pitchFamily="2" charset="0"/>
              </a:rPr>
              <a:t>Natural Deduction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Automated Reasoning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Knowledge and knowledge representation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Knowledge Bases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latin typeface="Helvetica" pitchFamily="2" charset="0"/>
              </a:rPr>
              <a:t>Knowledge Graphs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Large Language Models &amp; RAG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Reasoning under Uncertainty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Probabilities, conditional independence;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Bayesian networks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Causal Reasoning (if time)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41B5E-1EDE-1F9A-D487-C8179021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057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0F3D5E-9D85-3B64-0312-3083D6A9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746067" cy="632219"/>
          </a:xfrm>
        </p:spPr>
        <p:txBody>
          <a:bodyPr/>
          <a:lstStyle/>
          <a:p>
            <a:r>
              <a:rPr lang="en-US" dirty="0"/>
              <a:t>How the Course will be Taught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DFB13F-7034-BFAE-EE4E-1ADA9EC3FA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Lectures will be kept short-</a:t>
            </a:r>
            <a:r>
              <a:rPr lang="en-US" sz="2000" dirty="0" err="1">
                <a:solidFill>
                  <a:schemeClr val="tx2"/>
                </a:solidFill>
              </a:rPr>
              <a:t>ish</a:t>
            </a:r>
            <a:r>
              <a:rPr lang="en-US" sz="2000" dirty="0">
                <a:solidFill>
                  <a:schemeClr val="tx2"/>
                </a:solidFill>
              </a:rPr>
              <a:t> and single topic</a:t>
            </a:r>
            <a:endParaRPr lang="en-US" sz="28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There are extensive written notes on canvas. You need to read these.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Lots of problems to work though – some paper-based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Plenty of live coding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We will code almost everything ourselves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libraries for this are bad/nonexistent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Coding develops understanding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 a little more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41B5E-1EDE-1F9A-D487-C8179021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810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0F3D5E-9D85-3B64-0312-3083D6A9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746067" cy="632219"/>
          </a:xfrm>
        </p:spPr>
        <p:txBody>
          <a:bodyPr/>
          <a:lstStyle/>
          <a:p>
            <a:r>
              <a:rPr lang="en-US" dirty="0"/>
              <a:t>Assessment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DFB13F-7034-BFAE-EE4E-1ADA9EC3FA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Two </a:t>
            </a:r>
            <a:r>
              <a:rPr lang="en-US" sz="2400" b="1" dirty="0">
                <a:solidFill>
                  <a:schemeClr val="tx2"/>
                </a:solidFill>
              </a:rPr>
              <a:t>one hour </a:t>
            </a:r>
            <a:r>
              <a:rPr lang="en-US" sz="2400" dirty="0">
                <a:solidFill>
                  <a:schemeClr val="tx2"/>
                </a:solidFill>
              </a:rPr>
              <a:t>class tests worth 20% each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4, Monday 12 October, 09:30am start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11, Friday 30 November, 09:30am start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will be invigilated and will be multiple choice.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must be present in person for these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One course project worth 60%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will undertake an open-ended practical project, using techniques from the module as you deem appropriate.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will be assess on </a:t>
            </a: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</a:p>
          <a:p>
            <a:pPr marL="1257277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will be expected to demonstrate consistent work on the project by submitting a weekly project “log”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Released in week 4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41B5E-1EDE-1F9A-D487-C8179021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664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B8D950-D3A1-0898-F6EB-8718D553A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524CAD-A98A-464B-5EED-5B97F0EF08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Advice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A86E5-3EA6-1F03-E8FA-9BC7FB6C13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1715590"/>
            <a:ext cx="10116047" cy="42045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GB" sz="2400" b="1" i="0" u="none" strike="noStrike" dirty="0">
                <a:effectLst/>
                <a:latin typeface="Söhne"/>
              </a:rPr>
              <a:t>Read the notes</a:t>
            </a:r>
            <a:r>
              <a:rPr lang="en-GB" sz="2400" i="0" u="none" strike="noStrike" dirty="0">
                <a:effectLst/>
                <a:latin typeface="Söhne"/>
              </a:rPr>
              <a:t>, ideally before the lecture</a:t>
            </a:r>
          </a:p>
          <a:p>
            <a:pPr algn="l"/>
            <a:r>
              <a:rPr lang="en-GB" sz="2400" b="1" dirty="0">
                <a:latin typeface="Söhne"/>
              </a:rPr>
              <a:t>Do the exercises</a:t>
            </a:r>
            <a:r>
              <a:rPr lang="en-GB" sz="2400" dirty="0">
                <a:latin typeface="Söhne"/>
              </a:rPr>
              <a:t>, there is time in class to do this</a:t>
            </a:r>
          </a:p>
          <a:p>
            <a:pPr algn="l"/>
            <a:r>
              <a:rPr lang="en-GB" sz="2400" b="1" dirty="0">
                <a:latin typeface="Söhne"/>
              </a:rPr>
              <a:t>Come to the class</a:t>
            </a:r>
            <a:r>
              <a:rPr lang="en-GB" sz="2400" dirty="0">
                <a:latin typeface="Söhne"/>
              </a:rPr>
              <a:t>, talking to me and each other will help you</a:t>
            </a:r>
            <a:endParaRPr lang="en-GB" sz="2400" b="1" dirty="0">
              <a:latin typeface="Söhne"/>
            </a:endParaRPr>
          </a:p>
          <a:p>
            <a:pPr algn="l"/>
            <a:r>
              <a:rPr lang="en-GB" sz="2400" b="1" dirty="0">
                <a:latin typeface="Söhne"/>
              </a:rPr>
              <a:t>Be on time</a:t>
            </a:r>
            <a:r>
              <a:rPr lang="en-GB" sz="2400" dirty="0">
                <a:latin typeface="Söhne"/>
              </a:rPr>
              <a:t>, if you are 15 minutes late then you will be catching up for the whole day.</a:t>
            </a:r>
            <a:endParaRPr lang="en-GB" sz="2400" b="1" dirty="0">
              <a:latin typeface="Söhne"/>
            </a:endParaRPr>
          </a:p>
          <a:p>
            <a:pPr algn="l"/>
            <a:r>
              <a:rPr lang="en-GB" sz="2400" b="1" dirty="0">
                <a:latin typeface="Söhne"/>
              </a:rPr>
              <a:t>AI is of most help to those who already understand what they doing</a:t>
            </a:r>
            <a:endParaRPr lang="en-GB" b="1" dirty="0">
              <a:latin typeface="söhne"/>
            </a:endParaRPr>
          </a:p>
          <a:p>
            <a:pPr algn="l"/>
            <a:endParaRPr lang="en-GB" sz="2400" i="0" u="none" strike="noStrike" dirty="0">
              <a:effectLst/>
              <a:latin typeface="Söhne"/>
            </a:endParaRPr>
          </a:p>
          <a:p>
            <a:pPr algn="l"/>
            <a:endParaRPr lang="en-GB" sz="2400" dirty="0">
              <a:latin typeface="Söhne"/>
            </a:endParaRPr>
          </a:p>
          <a:p>
            <a:endParaRPr lang="en-GB" sz="24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06864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8F420-8FD3-BC84-2159-1284AA65D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6466490" cy="632219"/>
          </a:xfrm>
        </p:spPr>
        <p:txBody>
          <a:bodyPr/>
          <a:lstStyle/>
          <a:p>
            <a:r>
              <a:rPr lang="en-GB" dirty="0"/>
              <a:t>Can you solve them?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1FD57-5AF8-9A86-3EDF-8AB6AB7A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493917A6-42C9-39B1-6F89-C62C24F98C9C}"/>
              </a:ext>
            </a:extLst>
          </p:cNvPr>
          <p:cNvGraphicFramePr>
            <a:graphicFrameLocks noGrp="1"/>
          </p:cNvGraphicFramePr>
          <p:nvPr/>
        </p:nvGraphicFramePr>
        <p:xfrm>
          <a:off x="1920105" y="1723850"/>
          <a:ext cx="3580092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788">
                  <a:extLst>
                    <a:ext uri="{9D8B030D-6E8A-4147-A177-3AD203B41FA5}">
                      <a16:colId xmlns:a16="http://schemas.microsoft.com/office/drawing/2014/main" val="3678074355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1699260231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3158615965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1469432819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4252918278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3820923377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2778976473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4168917412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259560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41563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24959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18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8611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48041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305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6000D"/>
                          </a:solidFill>
                        </a:rPr>
                        <a:t>?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25398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6591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95412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DB4810C-7148-1911-8147-F936F583E8DE}"/>
              </a:ext>
            </a:extLst>
          </p:cNvPr>
          <p:cNvSpPr txBox="1"/>
          <p:nvPr/>
        </p:nvSpPr>
        <p:spPr>
          <a:xfrm>
            <a:off x="7243380" y="413776"/>
            <a:ext cx="492584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Einstein’s Riddle</a:t>
            </a:r>
          </a:p>
          <a:p>
            <a:pPr>
              <a:buFont typeface="+mj-lt"/>
              <a:buAutoNum type="arabicPeriod"/>
            </a:pPr>
            <a:r>
              <a:rPr lang="en-GB" dirty="0"/>
              <a:t>There are five houses.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Englishman lives in the red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Spaniard owns the dog.</a:t>
            </a:r>
          </a:p>
          <a:p>
            <a:pPr>
              <a:buFont typeface="+mj-lt"/>
              <a:buAutoNum type="arabicPeriod"/>
            </a:pPr>
            <a:r>
              <a:rPr lang="en-GB" dirty="0"/>
              <a:t>Coffee is drunk in the green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Ukrainian drinks tea.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green house is immediately to the right of the ivory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Old Gold smoker owns snails.</a:t>
            </a:r>
          </a:p>
          <a:p>
            <a:pPr>
              <a:buFont typeface="+mj-lt"/>
              <a:buAutoNum type="arabicPeriod"/>
            </a:pPr>
            <a:r>
              <a:rPr lang="en-GB" dirty="0" err="1"/>
              <a:t>Kools</a:t>
            </a:r>
            <a:r>
              <a:rPr lang="en-GB" dirty="0"/>
              <a:t> are smoked in the yellow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Milk is drunk in the middle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Norwegian lives in the first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man who smokes Chesterfields lives in the house next to the man with the fox.</a:t>
            </a:r>
          </a:p>
          <a:p>
            <a:pPr>
              <a:buFont typeface="+mj-lt"/>
              <a:buAutoNum type="arabicPeriod"/>
            </a:pPr>
            <a:r>
              <a:rPr lang="en-GB" dirty="0" err="1"/>
              <a:t>Kools</a:t>
            </a:r>
            <a:r>
              <a:rPr lang="en-GB" dirty="0"/>
              <a:t> are smoked in the house next to the house where the horse is kept.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Lucky Strike smoker drinks orange juice.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Japanese smokes Parliaments.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Norwegian lives next to the blue house.</a:t>
            </a:r>
          </a:p>
          <a:p>
            <a:endParaRPr lang="en-GB" dirty="0"/>
          </a:p>
          <a:p>
            <a:r>
              <a:rPr lang="en-GB" b="1" dirty="0"/>
              <a:t>Who drinks water?</a:t>
            </a:r>
          </a:p>
          <a:p>
            <a:r>
              <a:rPr lang="en-GB" b="1" dirty="0"/>
              <a:t>Who owns the zebra? </a:t>
            </a:r>
          </a:p>
        </p:txBody>
      </p:sp>
    </p:spTree>
    <p:extLst>
      <p:ext uri="{BB962C8B-B14F-4D97-AF65-F5344CB8AC3E}">
        <p14:creationId xmlns:p14="http://schemas.microsoft.com/office/powerpoint/2010/main" val="212635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EF30F6-B75A-20BC-FD9A-02D24F73D1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1.01 Exercises Logic and Knowledge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9D767-F10E-54CA-9634-06E9AF24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987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438D0-F832-F2BF-DC7D-C0A09355B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884738" cy="632219"/>
          </a:xfrm>
        </p:spPr>
        <p:txBody>
          <a:bodyPr/>
          <a:lstStyle/>
          <a:p>
            <a:r>
              <a:rPr lang="en-US" dirty="0"/>
              <a:t>What reasoning abilities did you use?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E520D-F1B0-A8BE-0DB8-734FB90E0B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Do these tasks require intelligence?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What do they have in common?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Knowledge acquired incrementally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When new knowledge is discovered, have to revisit old knowledge to draw conclusions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we write computer programs to solve them?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we write one computer program that will solve them all?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Why are games like these relevant to real-world problems?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14C32-8649-7752-5D48-8A5FD4AEC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92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81419"/>
            <a:ext cx="9741195" cy="632219"/>
          </a:xfrm>
        </p:spPr>
        <p:txBody>
          <a:bodyPr/>
          <a:lstStyle/>
          <a:p>
            <a:r>
              <a:rPr lang="en-GB" dirty="0"/>
              <a:t>Reasoning and Intelligence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Why, in an era of big data, do we need to study logic?</a:t>
            </a: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Are models learned from data always correct?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What if we need provably correct results?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True intelligence needs to be able to </a:t>
            </a:r>
            <a:r>
              <a:rPr b="1" dirty="0"/>
              <a:t>reason</a:t>
            </a:r>
            <a:r>
              <a:rPr dirty="0"/>
              <a:t> </a:t>
            </a:r>
            <a:r>
              <a:rPr dirty="0" err="1"/>
              <a:t>rigourously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81419"/>
            <a:ext cx="9299713" cy="632219"/>
          </a:xfrm>
        </p:spPr>
        <p:txBody>
          <a:bodyPr/>
          <a:lstStyle/>
          <a:p>
            <a:r>
              <a:rPr dirty="0"/>
              <a:t>Logic and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en-US" dirty="0"/>
              <a:t>“If intelligence requires reasoning</a:t>
            </a:r>
          </a:p>
          <a:p>
            <a:pPr lvl="1"/>
            <a:r>
              <a:rPr lang="en-US" dirty="0"/>
              <a:t>And logic is the study of reasoning</a:t>
            </a:r>
          </a:p>
          <a:p>
            <a:pPr lvl="1"/>
            <a:r>
              <a:rPr lang="en-US" dirty="0"/>
              <a:t>Then…?”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dirty="0"/>
              <a:t>A more cliched example: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lvl="1"/>
            <a:r>
              <a:rPr dirty="0"/>
              <a:t>Socrates is a man</a:t>
            </a:r>
          </a:p>
          <a:p>
            <a:pPr lvl="1"/>
            <a:r>
              <a:rPr dirty="0"/>
              <a:t>All men are mortal</a:t>
            </a:r>
          </a:p>
          <a:p>
            <a:pPr lvl="1"/>
            <a:r>
              <a:rPr lang="en-US" dirty="0"/>
              <a:t>	</a:t>
            </a:r>
            <a:r>
              <a:rPr dirty="0"/>
              <a:t>…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  <a:r>
              <a:rPr dirty="0"/>
              <a:t> </a:t>
            </a:r>
            <a:r>
              <a:rPr b="1" dirty="0"/>
              <a:t>deductive truth</a:t>
            </a:r>
            <a:r>
              <a:rPr lang="en-US" b="1" dirty="0"/>
              <a:t>.</a:t>
            </a: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Should AI systems be able to do this?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Humans know facts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GB" sz="2400" b="0" dirty="0">
                <a:solidFill>
                  <a:schemeClr val="tx1">
                    <a:lumMod val="50000"/>
                  </a:schemeClr>
                </a:solidFill>
                <a:effectLst/>
                <a:latin typeface="Menlo" panose="020B0609030804020204" pitchFamily="49" charset="0"/>
              </a:rPr>
              <a:t>- It is colder in the winter than in the summer.</a:t>
            </a:r>
          </a:p>
          <a:p>
            <a:pPr marL="0" indent="0">
              <a:buNone/>
            </a:pPr>
            <a:r>
              <a:rPr lang="en-GB" sz="2400" b="0" dirty="0">
                <a:solidFill>
                  <a:schemeClr val="tx1">
                    <a:lumMod val="50000"/>
                  </a:schemeClr>
                </a:solidFill>
                <a:effectLst/>
                <a:latin typeface="Menlo" panose="020B0609030804020204" pitchFamily="49" charset="0"/>
              </a:rPr>
              <a:t>- Mount Everest is the tallest mountain in the world.</a:t>
            </a:r>
          </a:p>
          <a:p>
            <a:pPr marL="0" indent="0">
              <a:buNone/>
            </a:pPr>
            <a:r>
              <a:rPr lang="en-GB" sz="2400" b="0" dirty="0">
                <a:solidFill>
                  <a:schemeClr val="tx1">
                    <a:lumMod val="50000"/>
                  </a:schemeClr>
                </a:solidFill>
                <a:effectLst/>
                <a:latin typeface="Menlo" panose="020B0609030804020204" pitchFamily="49" charset="0"/>
              </a:rPr>
              <a:t>- Water makes you wet.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Facts are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grounded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: we know what a mountain is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How do these facts differ from data?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4588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Humans can reason over facts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We can make decisions and draw conclusions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Can we get computers to do the same?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Computers require a formal language: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Logic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Logic – the study of correct reasoning- will allow us to formally represent facts and reason about them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Propositional Logic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is a simple form of logic that allows us to do just this</a:t>
            </a:r>
            <a:endParaRPr lang="en-US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4419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Propositions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 proposition is a statement that can be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True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or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False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It is colder in the winter than in the summer.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Mount Everest is the tallest mountain in the world.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Water makes you wet.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Premise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is a stated proposition and is like an axiom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Conclusion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is derived purely from the premise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	Socrates is a man [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Premise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   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	All men are mortal [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Premise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  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	Therefore, Socrates is mortal [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Conclusion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2811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Connectives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“Water makes you wet” is an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atomic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proposition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We can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connect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these together to get new compound propositions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 car is blue and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fuelled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by petrol (The car is blue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and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 car is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fuelled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by petrol)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Books have hard or soft covers (Books have hard covers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or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books have soft covers)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If the sun is shining then it is daytime (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If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the sun is shining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then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it is daytime)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25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86B1F53-3E2C-BF6B-7F6E-ED3F0ABD27ED}"/>
                  </a:ext>
                </a:extLst>
              </p14:cNvPr>
              <p14:cNvContentPartPr/>
              <p14:nvPr/>
            </p14:nvContentPartPr>
            <p14:xfrm>
              <a:off x="1740600" y="2577240"/>
              <a:ext cx="3354480" cy="2314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86B1F53-3E2C-BF6B-7F6E-ED3F0ABD27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24400" y="2561040"/>
                <a:ext cx="3386880" cy="234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4821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Correctness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If we use correct reasoning, if the premises of an argument are true then its conclusion must be True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Socrates is a man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All men are mortal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Therefore Socrates is mortal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Is our reasoning correct: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Some apples are red 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All apples are tasty 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Therefore, all red apples are tasty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626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291040" cy="632219"/>
          </a:xfrm>
        </p:spPr>
        <p:txBody>
          <a:bodyPr/>
          <a:lstStyle/>
          <a:p>
            <a:r>
              <a:rPr lang="en-US" dirty="0"/>
              <a:t>Validity and Soundness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Is our reasoning correct: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Some apples are red  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Some apples are tasty  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Therefore, some red apples are tasty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This is an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INVALID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argument</a:t>
            </a:r>
          </a:p>
          <a:p>
            <a:pPr marL="171445" lvl="1"/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Is our reasoning correct:</a:t>
            </a:r>
          </a:p>
          <a:p>
            <a:pPr marL="971533" lvl="2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All apples are red </a:t>
            </a:r>
          </a:p>
          <a:p>
            <a:pPr marL="971533" lvl="2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Some apples are tasty </a:t>
            </a:r>
          </a:p>
          <a:p>
            <a:pPr marL="971533" lvl="2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Therefore, some red apples are tasty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This is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VALID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but is not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SOUND</a:t>
            </a: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628633" lvl="2"/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171445" lvl="1"/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CORRECT DEDUCTIVE REASONING MUST BE BOTH VALID AND SOUND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35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EF30F6-B75A-20BC-FD9A-02D24F73D1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1.03 Exercises Propositional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9D767-F10E-54CA-9634-06E9AF24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423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Formal 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4A0A8-BE31-992F-30F9-AE580D89B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Humans are excellent at reasoning using natural language, but machines are not.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To automate deductive reasoning, we need to reduce it to symbol manipulation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One symbol to represent each atomic proposition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Each symbol can be True or 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07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766610" cy="632219"/>
          </a:xfrm>
        </p:spPr>
        <p:txBody>
          <a:bodyPr/>
          <a:lstStyle/>
          <a:p>
            <a:r>
              <a:rPr lang="en-US" dirty="0"/>
              <a:t>Making Logical Arguments Formal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4A0A8-BE31-992F-30F9-AE580D89B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i="1" dirty="0">
                <a:solidFill>
                  <a:schemeClr val="tx1">
                    <a:lumMod val="50000"/>
                  </a:schemeClr>
                </a:solidFill>
              </a:rPr>
              <a:t>If it is not raining and I am going outdoors then I do not take a coat or an umbrella.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What are the atomic propositions?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It is raining  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 am going outdoors  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 will take a coat  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 will take an umbrella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Each can be True or 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3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Logical Connectives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If it is not raining and I am going outdoors then I do not take a coat or an umbrella.</a:t>
                </a:r>
              </a:p>
              <a:p>
                <a:endParaRPr lang="en-GB" b="0" dirty="0">
                  <a:solidFill>
                    <a:srgbClr val="CCCCCC"/>
                  </a:solidFill>
                  <a:effectLst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In terms of the atomic propositions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R, O, C, U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we can write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:</a:t>
                </a:r>
              </a:p>
              <a:p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if ((not R) and O) then not (C or U)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Four logical connectives are used here. We will assign them symbols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Not (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Negation):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is True when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False, and False when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And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(Conjunction):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 only when both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and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are True and is otherwise False</a:t>
                </a:r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Or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(Disjunction):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is True when either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or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Q,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or both of them are True and is only False when both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and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are False.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Material Implication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(if):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0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.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0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 except when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False and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724" t="-1292" r="-965" b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5683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Truth Tables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1A3E9-3A89-BC53-C1D5-0B2280F15D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The effect of Logical connectives is best illustrated by their Truth Tables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A Truth table tells us whether a Compound proposition is True or False depending on the Truth of the compound propositions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000" i="1" dirty="0">
                <a:solidFill>
                  <a:schemeClr val="tx1">
                    <a:lumMod val="50000"/>
                  </a:schemeClr>
                </a:solidFill>
              </a:rPr>
              <a:t>Is the statement “if it is cold I wear a hat” True or False if the statements “I am wearing a hat” and “it is not cold” are both true?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Understanding these will help us to model our knowledge using propositions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3670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Negation (Not)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The simplest connective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A unary operator that changes a proposition from True to False or from False to True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is True when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False, and False when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  <a:blipFill>
                <a:blip r:embed="rId2"/>
                <a:stretch>
                  <a:fillRect l="-605" t="-4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113668" y="3104930"/>
              <a:ext cx="5249748" cy="23682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4874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2624874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</a:tblGrid>
                  <a:tr h="5080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2400" b="0" i="1" dirty="0" smtClean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en-US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1105753"/>
                  </p:ext>
                </p:extLst>
              </p:nvPr>
            </p:nvGraphicFramePr>
            <p:xfrm>
              <a:off x="3113668" y="3104930"/>
              <a:ext cx="5249748" cy="23682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4874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2624874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483" t="-6154" r="-966" b="-19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844795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Conjunction (And)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A binary operator (connects two propositions)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 only when both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and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are True and is otherwise False</a:t>
                </a:r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  <a:blipFill>
                <a:blip r:embed="rId2"/>
                <a:stretch>
                  <a:fillRect l="-605" t="-4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660077" y="226858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5080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b="0" i="1" dirty="0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i="1" dirty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400" b="0" i="1" dirty="0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0592078"/>
                  </p:ext>
                </p:extLst>
              </p:nvPr>
            </p:nvGraphicFramePr>
            <p:xfrm>
              <a:off x="3660077" y="226858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6154" r="-1923" b="-37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905564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Disjunction (Or)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A binary operator (connects two propositions)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is True when either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or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Q,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or both of them are True and is only False when both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and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are False</a:t>
                </a:r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  <a:blipFill>
                <a:blip r:embed="rId2"/>
                <a:stretch>
                  <a:fillRect l="-605" t="-4630" r="-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660077" y="226858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5080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i="1" dirty="0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i="1" dirty="0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sz="2400" i="1" dirty="0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7409648"/>
                  </p:ext>
                </p:extLst>
              </p:nvPr>
            </p:nvGraphicFramePr>
            <p:xfrm>
              <a:off x="3660077" y="226858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6154" r="-1923" b="-37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97760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Material Implication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838201" y="1107853"/>
                <a:ext cx="10502589" cy="4278185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More subtle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read as “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if P then 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”.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Not the same as </a:t>
                </a:r>
                <a:r>
                  <a:rPr lang="en-US" sz="2000" b="1" dirty="0" err="1">
                    <a:solidFill>
                      <a:schemeClr val="tx1">
                        <a:lumMod val="50000"/>
                      </a:schemeClr>
                    </a:solidFill>
                  </a:rPr>
                  <a:t>if..then</a:t>
                </a: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 in programming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No native Python operator.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Can you write a lambda function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implies(P,Q)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838201" y="1107853"/>
                <a:ext cx="10502589" cy="4278185"/>
              </a:xfrm>
              <a:blipFill>
                <a:blip r:embed="rId2"/>
                <a:stretch>
                  <a:fillRect l="-605" t="-1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707969" y="92442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2007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⟹</m:t>
                                </m:r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6084548"/>
                  </p:ext>
                </p:extLst>
              </p:nvPr>
            </p:nvGraphicFramePr>
            <p:xfrm>
              <a:off x="7707969" y="92442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038" t="-4615" r="-2885" b="-37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372465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Biconditional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Not needed in our example, but quite common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read as “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 </a:t>
                </a:r>
                <a:r>
                  <a:rPr lang="en-US" sz="2000" i="1" dirty="0" err="1">
                    <a:solidFill>
                      <a:schemeClr val="tx1">
                        <a:lumMod val="50000"/>
                      </a:schemeClr>
                    </a:solidFill>
                  </a:rPr>
                  <a:t>iff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”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Not the same as </a:t>
                </a:r>
                <a:r>
                  <a:rPr lang="en-US" sz="2000" b="1" dirty="0" err="1">
                    <a:solidFill>
                      <a:schemeClr val="tx1">
                        <a:lumMod val="50000"/>
                      </a:schemeClr>
                    </a:solidFill>
                  </a:rPr>
                  <a:t>if..then</a:t>
                </a: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 in programming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  <a:blipFill>
                <a:blip r:embed="rId2"/>
                <a:stretch>
                  <a:fillRect l="-605" t="-4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2043353"/>
                  </p:ext>
                </p:extLst>
              </p:nvPr>
            </p:nvGraphicFramePr>
            <p:xfrm>
              <a:off x="3626623" y="2686613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2007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⟺</m:t>
                                </m:r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2043353"/>
                  </p:ext>
                </p:extLst>
              </p:nvPr>
            </p:nvGraphicFramePr>
            <p:xfrm>
              <a:off x="3626623" y="2686613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6154" r="-1923" b="-376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028936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Back to our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1A3E9-3A89-BC53-C1D5-0B2280F15D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10502589" cy="5368727"/>
          </a:xfrm>
        </p:spPr>
        <p:txBody>
          <a:bodyPr/>
          <a:lstStyle/>
          <a:p>
            <a:r>
              <a:rPr lang="en-US" sz="2000" i="1" dirty="0">
                <a:solidFill>
                  <a:schemeClr val="tx1">
                    <a:lumMod val="50000"/>
                  </a:schemeClr>
                </a:solidFill>
              </a:rPr>
              <a:t>If it is not raining and I am going outdoors then I do not take a coat or an umbrella.</a:t>
            </a:r>
          </a:p>
          <a:p>
            <a:pPr algn="ctr"/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((not R) and O) then not (C or U)</a:t>
            </a: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000" b="1" dirty="0">
                <a:solidFill>
                  <a:schemeClr val="tx1">
                    <a:lumMod val="50000"/>
                  </a:schemeClr>
                </a:solidFill>
              </a:rPr>
              <a:t>Exercise: Can you compute the Truth Table for this?</a:t>
            </a: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26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68AA1-B0FB-5BAC-DA47-BB3695E02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39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109018-63B3-9D7B-F807-98FD0E63B8CE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173014"/>
          <a:ext cx="8128001" cy="629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17612492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441532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7740345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3896473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0584875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329141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28643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783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073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21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821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608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87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612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71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439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569028"/>
                  </a:ext>
                </a:extLst>
              </a:tr>
              <a:tr h="3427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06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628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17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8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205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51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421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1095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EF30F6-B75A-20BC-FD9A-02D24F73D1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1.05 Exercises Formal Propositional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9D767-F10E-54CA-9634-06E9AF24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9352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77BE-0A7C-A4F9-E8FE-CD2FEDEDE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E296C-566B-CCB2-3DDF-8B255E322C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We have now studied enough knowledge to build a 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knowledge base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What exactly do we mean by this?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We introduce the concept of an intelligent 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The agent lives in some abstract world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chess board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Roomba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medical database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The agent has a goal that it must achieve.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352DF-788C-AC1E-E5E7-9A897260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35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FA3F-43EC-43EC-7385-90D1E72CE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990909" cy="632219"/>
          </a:xfrm>
        </p:spPr>
        <p:txBody>
          <a:bodyPr/>
          <a:lstStyle/>
          <a:p>
            <a:r>
              <a:rPr lang="en-US" dirty="0"/>
              <a:t>How can agents achieve their goals?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CFC84-0840-C3BB-E249-1FE2C2B1F0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Examples of agent goals: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Capture the opponent’s King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Vacuum the entire floor area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a combination of medicines for a set of symptoms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agent must be able to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Observe its environment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opponent’s King is on square E8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cat’s bed is in the corner by the heater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Medicines X addresses disease Y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 question about its environment to determine new knowledge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I move my knight to A6, what could happen?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Medicines A and B address diseases X and Y but should not be taken together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Reason over the knowledge to ask a set of questions that enable decisions to be taken that achieve the goal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39DEC-ECDD-D539-8328-888895C2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111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FA3F-43EC-43EC-7385-90D1E72CE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990909" cy="632219"/>
          </a:xfrm>
        </p:spPr>
        <p:txBody>
          <a:bodyPr/>
          <a:lstStyle/>
          <a:p>
            <a:r>
              <a:rPr lang="en-US" dirty="0"/>
              <a:t>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CFC84-0840-C3BB-E249-1FE2C2B1F0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knowledge base records what the agent knows as a set of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propositions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may contain some prior information (premises)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written in formal notation to enable computation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agent can update it as it discovers new things about the world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agent aims to find one or more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that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the knowledge base True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Let’s develop an example: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39DEC-ECDD-D539-8328-888895C2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1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597ED-4D3C-995A-D281-C057F31D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Familiar Riddle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71E5E-BC56-DA14-B447-88522D39F9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Ahmed, Niamh, and Xin are three friends. They went for dinner together. Each of them ordered a main course (stew, </a:t>
            </a:r>
            <a:r>
              <a:rPr lang="en-GB" sz="2000" b="0" dirty="0" err="1">
                <a:solidFill>
                  <a:schemeClr val="tx1">
                    <a:lumMod val="50000"/>
                  </a:schemeClr>
                </a:solidFill>
                <a:effectLst/>
              </a:rPr>
              <a:t>daal</a:t>
            </a:r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, falafel) and a dessert (ice cream, apple pie, cheesecake. They each ordered a different main course and a different dessert. Use the following information to deduce who ordered what:</a:t>
            </a:r>
          </a:p>
          <a:p>
            <a:b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</a:br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1. The person who ordered the stew did not order the apple pie</a:t>
            </a:r>
          </a:p>
          <a:p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2. Niamh ordered the Dhal</a:t>
            </a:r>
          </a:p>
          <a:p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3. Ahmed ordered the ice cream or the apple pie</a:t>
            </a:r>
          </a:p>
          <a:p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4. Xin did not order either the ice cream or the cheesecake</a:t>
            </a:r>
          </a:p>
          <a:p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5. The person who ordered the ice cream did not order the falafel</a:t>
            </a:r>
          </a:p>
          <a:p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000" b="1" dirty="0">
                <a:solidFill>
                  <a:schemeClr val="tx1">
                    <a:lumMod val="50000"/>
                  </a:schemeClr>
                </a:solidFill>
              </a:rPr>
              <a:t>Can you formalize this?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24952-CC75-0E51-7C14-170B245D8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0047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Proofs in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en-US" dirty="0"/>
              <a:t>All men are mortal</a:t>
            </a:r>
          </a:p>
          <a:p>
            <a:pPr lvl="1"/>
            <a:r>
              <a:rPr lang="en-US" dirty="0"/>
              <a:t>Socrates is a man</a:t>
            </a:r>
          </a:p>
          <a:p>
            <a:pPr lvl="1"/>
            <a:r>
              <a:rPr lang="en-US" dirty="0"/>
              <a:t>Therefore Socrates is mortal</a:t>
            </a:r>
          </a:p>
          <a:p>
            <a:pPr lvl="1"/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We claim that this is sound and valid argument, but how do we</a:t>
            </a:r>
            <a:r>
              <a:rPr lang="en-US" b="1" dirty="0"/>
              <a:t> know</a:t>
            </a:r>
            <a:r>
              <a:rPr lang="en-US" dirty="0"/>
              <a:t> this?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Soundness is a matter of the truth of the propositions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Validity is whether the reasoning is correct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How can we unambiguously determine the validity of an argument?</a:t>
            </a:r>
          </a:p>
          <a:p>
            <a:pPr lvl="1"/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4576947" cy="4905623"/>
          </a:xfrm>
        </p:spPr>
        <p:txBody>
          <a:bodyPr/>
          <a:lstStyle/>
          <a:p>
            <a:pPr lvl="1"/>
            <a:r>
              <a:rPr lang="en-US" i="1" dirty="0"/>
              <a:t>If it is cold, I wear a jacket</a:t>
            </a:r>
          </a:p>
          <a:p>
            <a:pPr lvl="1"/>
            <a:r>
              <a:rPr lang="en-US" i="1" dirty="0"/>
              <a:t>It is cold</a:t>
            </a:r>
          </a:p>
          <a:p>
            <a:pPr lvl="1"/>
            <a:r>
              <a:rPr lang="en-US" i="1" dirty="0"/>
              <a:t>Therefore, I wear a jacket</a:t>
            </a:r>
          </a:p>
          <a:p>
            <a:pPr lvl="1"/>
            <a:endParaRPr lang="en-US" i="1" dirty="0"/>
          </a:p>
          <a:p>
            <a:pPr lvl="1"/>
            <a:r>
              <a:rPr lang="en-US" dirty="0"/>
              <a:t>In symbols: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1F196A-0ABE-E214-7876-A90157C5A9D4}"/>
              </a:ext>
            </a:extLst>
          </p:cNvPr>
          <p:cNvGraphicFramePr>
            <a:graphicFrameLocks noGrp="1"/>
          </p:cNvGraphicFramePr>
          <p:nvPr/>
        </p:nvGraphicFramePr>
        <p:xfrm>
          <a:off x="7255823" y="719665"/>
          <a:ext cx="3693225" cy="368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075">
                  <a:extLst>
                    <a:ext uri="{9D8B030D-6E8A-4147-A177-3AD203B41FA5}">
                      <a16:colId xmlns:a16="http://schemas.microsoft.com/office/drawing/2014/main" val="2361436391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2223057050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1024189543"/>
                    </a:ext>
                  </a:extLst>
                </a:gridCol>
              </a:tblGrid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C=&gt;J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6353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68227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772898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034919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707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1799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9726-33B0-19CD-365F-EF8FA0C0B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Checking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CB1AC-97BF-F1F8-744C-CB29D0DEE3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Each line of the truth table is called a </a:t>
            </a:r>
            <a:r>
              <a:rPr lang="en-US" sz="2400" b="1" dirty="0">
                <a:solidFill>
                  <a:schemeClr val="tx2"/>
                </a:solidFill>
              </a:rPr>
              <a:t>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All arguments can be </a:t>
            </a:r>
            <a:r>
              <a:rPr lang="en-US" sz="2400" dirty="0" err="1">
                <a:solidFill>
                  <a:schemeClr val="tx2"/>
                </a:solidFill>
              </a:rPr>
              <a:t>rigourously</a:t>
            </a:r>
            <a:r>
              <a:rPr lang="en-US" sz="2400" dirty="0">
                <a:solidFill>
                  <a:schemeClr val="tx2"/>
                </a:solidFill>
              </a:rPr>
              <a:t> checked by </a:t>
            </a:r>
            <a:r>
              <a:rPr lang="en-US" sz="2400" b="1" dirty="0">
                <a:solidFill>
                  <a:schemeClr val="tx2"/>
                </a:solidFill>
              </a:rPr>
              <a:t>enumerating all possible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 argument is valid </a:t>
            </a:r>
            <a:r>
              <a:rPr lang="en-US" sz="2400" dirty="0" err="1">
                <a:solidFill>
                  <a:schemeClr val="tx2"/>
                </a:solidFill>
              </a:rPr>
              <a:t>iff</a:t>
            </a:r>
            <a:r>
              <a:rPr lang="en-US" sz="2400" dirty="0">
                <a:solidFill>
                  <a:schemeClr val="tx2"/>
                </a:solidFill>
              </a:rPr>
              <a:t> there is at least one model for which all of the premises are True and the conclusion is True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This is known as </a:t>
            </a:r>
            <a:r>
              <a:rPr lang="en-US" sz="2400" b="1" dirty="0">
                <a:solidFill>
                  <a:schemeClr val="tx2"/>
                </a:solidFill>
              </a:rPr>
              <a:t>model checking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 gold standard, but nearly always impractical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3E14D-FA13-700A-7D85-0FC270CEA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9599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9726-33B0-19CD-365F-EF8FA0C0B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Checking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CB1AC-97BF-F1F8-744C-CB29D0DEE3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One way around the combinatorial explosion problem is to identify common parts of an argument, model check those, and then use them as part of a larger argument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Consider our earlier argument (written in </a:t>
            </a:r>
            <a:r>
              <a:rPr lang="en-US" sz="2400" i="1" dirty="0">
                <a:solidFill>
                  <a:schemeClr val="tx2"/>
                </a:solidFill>
              </a:rPr>
              <a:t>sequent form):</a:t>
            </a:r>
          </a:p>
          <a:p>
            <a:endParaRPr lang="en-US" sz="2400" i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have verified this by truth table and can therefore take it as proven as rigorously as possible </a:t>
            </a:r>
            <a:r>
              <a:rPr lang="en-US" sz="2400" b="1" dirty="0">
                <a:solidFill>
                  <a:schemeClr val="tx2"/>
                </a:solidFill>
              </a:rPr>
              <a:t>(semantically correct). </a:t>
            </a:r>
            <a:r>
              <a:rPr lang="en-US" sz="2400" dirty="0">
                <a:solidFill>
                  <a:schemeClr val="tx2"/>
                </a:solidFill>
              </a:rPr>
              <a:t>We denote this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This is known as </a:t>
            </a:r>
            <a:r>
              <a:rPr lang="en-US" sz="2400" b="1" dirty="0">
                <a:solidFill>
                  <a:schemeClr val="tx2"/>
                </a:solidFill>
              </a:rPr>
              <a:t>modus ponens</a:t>
            </a:r>
            <a:r>
              <a:rPr lang="en-US" sz="2400" dirty="0">
                <a:solidFill>
                  <a:schemeClr val="tx2"/>
                </a:solidFill>
              </a:rPr>
              <a:t> (method of affirming) and is widely used as the basis for automated reasoning.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3E14D-FA13-700A-7D85-0FC270CEA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853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4576947" cy="4905623"/>
          </a:xfrm>
        </p:spPr>
        <p:txBody>
          <a:bodyPr>
            <a:normAutofit lnSpcReduction="10000"/>
          </a:bodyPr>
          <a:lstStyle/>
          <a:p>
            <a:pPr lvl="1"/>
            <a:r>
              <a:rPr lang="en-US" i="1" dirty="0"/>
              <a:t>If it is cold, I wear a jacket</a:t>
            </a:r>
          </a:p>
          <a:p>
            <a:pPr lvl="1"/>
            <a:r>
              <a:rPr lang="en-US" i="1" dirty="0"/>
              <a:t>I am not wearing a jacket</a:t>
            </a:r>
          </a:p>
          <a:p>
            <a:pPr lvl="1"/>
            <a:r>
              <a:rPr lang="en-US" i="1" dirty="0"/>
              <a:t>Therefore, it is not cold</a:t>
            </a:r>
          </a:p>
          <a:p>
            <a:pPr lvl="1"/>
            <a:endParaRPr lang="en-US" i="1" dirty="0"/>
          </a:p>
          <a:p>
            <a:pPr lvl="1"/>
            <a:r>
              <a:rPr lang="en-US" dirty="0"/>
              <a:t>In symbols: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dirty="0"/>
              <a:t>Modus Tollens </a:t>
            </a:r>
            <a:r>
              <a:rPr lang="en-US" dirty="0"/>
              <a:t>(</a:t>
            </a:r>
            <a:r>
              <a:rPr lang="en-GB" dirty="0"/>
              <a:t>method of removing by taking away)</a:t>
            </a:r>
            <a:endParaRPr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1F196A-0ABE-E214-7876-A90157C5A9D4}"/>
              </a:ext>
            </a:extLst>
          </p:cNvPr>
          <p:cNvGraphicFramePr>
            <a:graphicFrameLocks noGrp="1"/>
          </p:cNvGraphicFramePr>
          <p:nvPr/>
        </p:nvGraphicFramePr>
        <p:xfrm>
          <a:off x="7255823" y="719665"/>
          <a:ext cx="3693225" cy="368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075">
                  <a:extLst>
                    <a:ext uri="{9D8B030D-6E8A-4147-A177-3AD203B41FA5}">
                      <a16:colId xmlns:a16="http://schemas.microsoft.com/office/drawing/2014/main" val="2361436391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2223057050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1024189543"/>
                    </a:ext>
                  </a:extLst>
                </a:gridCol>
              </a:tblGrid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C=&gt;J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6353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68227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772898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034919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707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2545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4576947" cy="4905623"/>
          </a:xfrm>
        </p:spPr>
        <p:txBody>
          <a:bodyPr>
            <a:normAutofit lnSpcReduction="10000"/>
          </a:bodyPr>
          <a:lstStyle/>
          <a:p>
            <a:pPr lvl="1"/>
            <a:r>
              <a:rPr lang="en-US" i="1" dirty="0"/>
              <a:t>If it is cold, I wear a jacket</a:t>
            </a:r>
          </a:p>
          <a:p>
            <a:pPr lvl="1"/>
            <a:r>
              <a:rPr lang="en-US" i="1" dirty="0"/>
              <a:t>I am wearing a jacket</a:t>
            </a:r>
          </a:p>
          <a:p>
            <a:pPr lvl="1"/>
            <a:r>
              <a:rPr lang="en-US" i="1" dirty="0"/>
              <a:t>Therefore, it is cold</a:t>
            </a:r>
          </a:p>
          <a:p>
            <a:pPr lvl="1"/>
            <a:endParaRPr lang="en-US" i="1" dirty="0"/>
          </a:p>
          <a:p>
            <a:pPr lvl="1"/>
            <a:r>
              <a:rPr lang="en-US" dirty="0"/>
              <a:t>In symbols: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dirty="0"/>
              <a:t>Affirming the consequent</a:t>
            </a:r>
            <a:r>
              <a:rPr lang="en-US" dirty="0"/>
              <a:t>, or </a:t>
            </a:r>
            <a:r>
              <a:rPr lang="en-US" i="1" dirty="0"/>
              <a:t>fallacy of the converse</a:t>
            </a:r>
            <a:r>
              <a:rPr lang="en-US" dirty="0"/>
              <a:t> </a:t>
            </a:r>
            <a:endParaRPr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1F196A-0ABE-E214-7876-A90157C5A9D4}"/>
              </a:ext>
            </a:extLst>
          </p:cNvPr>
          <p:cNvGraphicFramePr>
            <a:graphicFrameLocks noGrp="1"/>
          </p:cNvGraphicFramePr>
          <p:nvPr/>
        </p:nvGraphicFramePr>
        <p:xfrm>
          <a:off x="7255823" y="719665"/>
          <a:ext cx="3693225" cy="368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075">
                  <a:extLst>
                    <a:ext uri="{9D8B030D-6E8A-4147-A177-3AD203B41FA5}">
                      <a16:colId xmlns:a16="http://schemas.microsoft.com/office/drawing/2014/main" val="2361436391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2223057050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1024189543"/>
                    </a:ext>
                  </a:extLst>
                </a:gridCol>
              </a:tblGrid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C=&gt;J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6353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68227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772898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034919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707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9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5257799" cy="4905623"/>
          </a:xfrm>
        </p:spPr>
        <p:txBody>
          <a:bodyPr>
            <a:normAutofit lnSpcReduction="10000"/>
          </a:bodyPr>
          <a:lstStyle/>
          <a:p>
            <a:pPr lvl="1"/>
            <a:r>
              <a:rPr lang="en-US" i="1" dirty="0"/>
              <a:t>If it is cold, I wear a jacket</a:t>
            </a:r>
          </a:p>
          <a:p>
            <a:pPr lvl="1"/>
            <a:r>
              <a:rPr lang="en-US" i="1" dirty="0"/>
              <a:t>It is not cold</a:t>
            </a:r>
          </a:p>
          <a:p>
            <a:pPr lvl="1"/>
            <a:r>
              <a:rPr lang="en-US" i="1" dirty="0"/>
              <a:t>Therefore, I am not wearing a jacket</a:t>
            </a:r>
          </a:p>
          <a:p>
            <a:pPr lvl="1"/>
            <a:endParaRPr lang="en-US" i="1" dirty="0"/>
          </a:p>
          <a:p>
            <a:pPr lvl="1"/>
            <a:r>
              <a:rPr lang="en-US" dirty="0"/>
              <a:t>In symbols: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dirty="0"/>
              <a:t>Denying the antecedent</a:t>
            </a:r>
            <a:r>
              <a:rPr lang="en-US" dirty="0"/>
              <a:t> or </a:t>
            </a:r>
            <a:r>
              <a:rPr lang="en-US" i="1" dirty="0"/>
              <a:t>fallacy of the inverse</a:t>
            </a:r>
            <a:endParaRPr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1F196A-0ABE-E214-7876-A90157C5A9D4}"/>
              </a:ext>
            </a:extLst>
          </p:cNvPr>
          <p:cNvGraphicFramePr>
            <a:graphicFrameLocks noGrp="1"/>
          </p:cNvGraphicFramePr>
          <p:nvPr/>
        </p:nvGraphicFramePr>
        <p:xfrm>
          <a:off x="7255823" y="719665"/>
          <a:ext cx="3693225" cy="368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075">
                  <a:extLst>
                    <a:ext uri="{9D8B030D-6E8A-4147-A177-3AD203B41FA5}">
                      <a16:colId xmlns:a16="http://schemas.microsoft.com/office/drawing/2014/main" val="2361436391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2223057050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1024189543"/>
                    </a:ext>
                  </a:extLst>
                </a:gridCol>
              </a:tblGrid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C=&gt;J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6353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68227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772898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034919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707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08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Natural Deduction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4A0A8-BE31-992F-30F9-AE580D89B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Truth tables are impractical for larger problems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15 variables – 2</a:t>
            </a:r>
            <a:r>
              <a:rPr lang="en-US" sz="2400" baseline="30000" dirty="0">
                <a:solidFill>
                  <a:schemeClr val="tx1">
                    <a:lumMod val="50000"/>
                  </a:schemeClr>
                </a:solidFill>
              </a:rPr>
              <a:t>15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 = 32,768 models is feasible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50 variables is challenging!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We could simplify by exploiting constraints and check only models that we cannot immediately rule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Not always obvious…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Can we instead formalize deductive reasoning?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3616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Natural Deduction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4A0A8-BE31-992F-30F9-AE580D89B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Model checking can be used to determine </a:t>
            </a:r>
            <a:r>
              <a:rPr lang="en-US" sz="2400" i="1" dirty="0">
                <a:solidFill>
                  <a:schemeClr val="tx1">
                    <a:lumMod val="50000"/>
                  </a:schemeClr>
                </a:solidFill>
              </a:rPr>
              <a:t>inference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i="1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These can be used to construct an argument to prove or disprove a proposition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Simple example: if P^Q is True, is P=&gt; Q True?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6918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Example of a Formal Proof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1CD51-EFA5-D9A1-B4F4-775F3C9CA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58392"/>
            <a:ext cx="5016500" cy="50800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C47065-B2BC-9121-5FFA-96BA59022E4C}"/>
              </a:ext>
            </a:extLst>
          </p:cNvPr>
          <p:cNvGraphicFramePr>
            <a:graphicFrameLocks noGrp="1"/>
          </p:cNvGraphicFramePr>
          <p:nvPr/>
        </p:nvGraphicFramePr>
        <p:xfrm>
          <a:off x="729996" y="2149783"/>
          <a:ext cx="9913620" cy="40177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0308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3791712">
                  <a:extLst>
                    <a:ext uri="{9D8B030D-6E8A-4147-A177-3AD203B41FA5}">
                      <a16:colId xmlns:a16="http://schemas.microsoft.com/office/drawing/2014/main" val="1819981474"/>
                    </a:ext>
                  </a:extLst>
                </a:gridCol>
                <a:gridCol w="1121664">
                  <a:extLst>
                    <a:ext uri="{9D8B030D-6E8A-4147-A177-3AD203B41FA5}">
                      <a16:colId xmlns:a16="http://schemas.microsoft.com/office/drawing/2014/main" val="899057307"/>
                    </a:ext>
                  </a:extLst>
                </a:gridCol>
              </a:tblGrid>
              <a:tr h="579523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Inference Rule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Premises used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97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67352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63992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57412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8174B6E5-4754-1C2F-9CC8-EA4317308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303861"/>
            <a:ext cx="50165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15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Common Inference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55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C47065-B2BC-9121-5FFA-96BA59022E4C}"/>
              </a:ext>
            </a:extLst>
          </p:cNvPr>
          <p:cNvGraphicFramePr>
            <a:graphicFrameLocks noGrp="1"/>
          </p:cNvGraphicFramePr>
          <p:nvPr/>
        </p:nvGraphicFramePr>
        <p:xfrm>
          <a:off x="5996940" y="1893751"/>
          <a:ext cx="5000245" cy="281468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5817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1677214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1677214">
                  <a:extLst>
                    <a:ext uri="{9D8B030D-6E8A-4147-A177-3AD203B41FA5}">
                      <a16:colId xmlns:a16="http://schemas.microsoft.com/office/drawing/2014/main" val="400969257"/>
                    </a:ext>
                  </a:extLst>
                </a:gridCol>
              </a:tblGrid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63992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57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0045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A more complex Proof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56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C47065-B2BC-9121-5FFA-96BA59022E4C}"/>
              </a:ext>
            </a:extLst>
          </p:cNvPr>
          <p:cNvGraphicFramePr>
            <a:graphicFrameLocks noGrp="1"/>
          </p:cNvGraphicFramePr>
          <p:nvPr/>
        </p:nvGraphicFramePr>
        <p:xfrm>
          <a:off x="703580" y="1951057"/>
          <a:ext cx="9913620" cy="416640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0308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3791712">
                  <a:extLst>
                    <a:ext uri="{9D8B030D-6E8A-4147-A177-3AD203B41FA5}">
                      <a16:colId xmlns:a16="http://schemas.microsoft.com/office/drawing/2014/main" val="1819981474"/>
                    </a:ext>
                  </a:extLst>
                </a:gridCol>
                <a:gridCol w="1121664">
                  <a:extLst>
                    <a:ext uri="{9D8B030D-6E8A-4147-A177-3AD203B41FA5}">
                      <a16:colId xmlns:a16="http://schemas.microsoft.com/office/drawing/2014/main" val="899057307"/>
                    </a:ext>
                  </a:extLst>
                </a:gridCol>
              </a:tblGrid>
              <a:tr h="606421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Inference Rule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Premises used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9790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67352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01451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639928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5741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32BF9C4-3368-A3DA-06E4-6F592A647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19595"/>
            <a:ext cx="5435600" cy="50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F75F3F-D3A0-11E1-1327-5F92CEC64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77696"/>
            <a:ext cx="55118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77BE-0A7C-A4F9-E8FE-CD2FEDEDE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947245" cy="632219"/>
          </a:xfrm>
        </p:spPr>
        <p:txBody>
          <a:bodyPr/>
          <a:lstStyle/>
          <a:p>
            <a:r>
              <a:rPr lang="en-US" dirty="0"/>
              <a:t>Some more Natural Deduction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E296C-566B-CCB2-3DDF-8B255E322C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OR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352DF-788C-AC1E-E5E7-9A897260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57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E18669-38A6-361A-DB7C-0A2B8B447F90}"/>
              </a:ext>
            </a:extLst>
          </p:cNvPr>
          <p:cNvGraphicFramePr>
            <a:graphicFrameLocks noGrp="1"/>
          </p:cNvGraphicFramePr>
          <p:nvPr/>
        </p:nvGraphicFramePr>
        <p:xfrm>
          <a:off x="729996" y="2149783"/>
          <a:ext cx="9913620" cy="28918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0308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3791712">
                  <a:extLst>
                    <a:ext uri="{9D8B030D-6E8A-4147-A177-3AD203B41FA5}">
                      <a16:colId xmlns:a16="http://schemas.microsoft.com/office/drawing/2014/main" val="1819981474"/>
                    </a:ext>
                  </a:extLst>
                </a:gridCol>
                <a:gridCol w="1121664">
                  <a:extLst>
                    <a:ext uri="{9D8B030D-6E8A-4147-A177-3AD203B41FA5}">
                      <a16:colId xmlns:a16="http://schemas.microsoft.com/office/drawing/2014/main" val="899057307"/>
                    </a:ext>
                  </a:extLst>
                </a:gridCol>
              </a:tblGrid>
              <a:tr h="579523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Inference Rule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Premises used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97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67352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5288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2AA55-F891-DDEE-F891-D39FD28CD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330440" cy="632219"/>
          </a:xfrm>
        </p:spPr>
        <p:txBody>
          <a:bodyPr/>
          <a:lstStyle/>
          <a:p>
            <a:r>
              <a:rPr lang="en-US" dirty="0"/>
              <a:t>Proving Invalid Arguments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9B97C-B95E-2FD9-9647-64BB8F9849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If you’re finding it hard to prove an argument, that could be because it is invalid!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You see if this is the case, you might try: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Proving the negation of the conclusion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Derive a contradiction by proving both the conclusion and its negation, or by deriving the negation of one of the premises</a:t>
            </a:r>
          </a:p>
          <a:p>
            <a:pPr lvl="1"/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94A98-1221-A978-C6C6-9CA7FEC69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328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40959-D2BF-8A22-0D96-2AA63DC04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8AA719-99CB-BBDE-EDE0-F0EEA4906A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1.07 Exercises Natural Deduction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F988E-C089-617A-0C96-919B467E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1538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5AFF5-6124-47F0-B889-3EFC792B3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1 Wrap-up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A938C-8914-3151-DA01-4813EF8E6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Today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Relationship between Logic and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Propositional Logic – sentences that are True of 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>
                    <a:lumMod val="50000"/>
                  </a:schemeClr>
                </a:solidFill>
              </a:rPr>
              <a:t>Formalisation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 of Propositional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Knowledge 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Natural Deduction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Homework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Complete the Natural Deduction Exercises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Wednesday</a:t>
            </a: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Solutions to the Natural Deduction Exercises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Introduction to Logic Programming with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</a:rPr>
              <a:t>Kanren</a:t>
            </a: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BCFC3-8D01-C567-A074-A5207B17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9702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A2772-B533-5CB5-176C-2D4924C56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9059B-9981-A52E-46F7-FF08F8CD1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AAD8A-BB9F-3A44-ADCC-5DAF737BB5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F133A-38C4-1480-1F1E-B7A54043BF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1: Logic</a:t>
            </a:r>
          </a:p>
        </p:txBody>
      </p:sp>
    </p:spTree>
    <p:extLst>
      <p:ext uri="{BB962C8B-B14F-4D97-AF65-F5344CB8AC3E}">
        <p14:creationId xmlns:p14="http://schemas.microsoft.com/office/powerpoint/2010/main" val="40183492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4DEDC3-89DA-B86F-09AE-5E60DA08E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from Day 1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D1578BC-F26C-4E01-D671-6046D2C602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On day 1 we learned:</a:t>
            </a:r>
          </a:p>
          <a:p>
            <a:pPr lvl="1"/>
            <a:r>
              <a:rPr lang="en-US" dirty="0"/>
              <a:t>To represent and reason about knowledge using Logic</a:t>
            </a:r>
          </a:p>
          <a:p>
            <a:pPr lvl="1"/>
            <a:r>
              <a:rPr lang="en-US" dirty="0"/>
              <a:t>The principles of Propositional Logic</a:t>
            </a:r>
          </a:p>
          <a:p>
            <a:pPr lvl="1"/>
            <a:r>
              <a:rPr lang="en-US" dirty="0"/>
              <a:t>Proving argument correctness</a:t>
            </a:r>
          </a:p>
          <a:p>
            <a:pPr lvl="1"/>
            <a:endParaRPr lang="en-US" dirty="0"/>
          </a:p>
          <a:p>
            <a:r>
              <a:rPr lang="en-US" dirty="0"/>
              <a:t>On day 2 we will:</a:t>
            </a:r>
          </a:p>
          <a:p>
            <a:pPr lvl="1"/>
            <a:r>
              <a:rPr lang="en-US" dirty="0"/>
              <a:t>Learn how to use an automated tool for natural deduction</a:t>
            </a:r>
          </a:p>
        </p:txBody>
      </p:sp>
    </p:spTree>
    <p:extLst>
      <p:ext uri="{BB962C8B-B14F-4D97-AF65-F5344CB8AC3E}">
        <p14:creationId xmlns:p14="http://schemas.microsoft.com/office/powerpoint/2010/main" val="6009453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0D5AB-D2F5-9C64-4038-9ED8F7E76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BB3DD4-0646-B951-EDA7-2DE5336E59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1.07 Exercises Natural Deduction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E2DFC-111D-25E0-404F-14E005602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2074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0AC37-8EA3-933C-F98B-5E1661884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37C79-5E14-5739-065E-315BA2A76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531475" cy="632219"/>
          </a:xfrm>
        </p:spPr>
        <p:txBody>
          <a:bodyPr/>
          <a:lstStyle/>
          <a:p>
            <a:r>
              <a:rPr lang="en-US" dirty="0"/>
              <a:t>Automated Reasoning with </a:t>
            </a:r>
            <a:r>
              <a:rPr lang="en-US" dirty="0" err="1"/>
              <a:t>Kanren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D2B65C-2C0E-F2DD-DBE3-95DFC871C2B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Open the </a:t>
            </a:r>
            <a:r>
              <a:rPr lang="en-US" dirty="0" err="1"/>
              <a:t>Kanren</a:t>
            </a:r>
            <a:r>
              <a:rPr lang="en-US" dirty="0"/>
              <a:t> Tutorial Notebook and code along…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0170C-7E95-AD7B-788E-34D0BE78E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63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2603</TotalTime>
  <Words>3751</Words>
  <Application>Microsoft Macintosh PowerPoint</Application>
  <PresentationFormat>Widescreen</PresentationFormat>
  <Paragraphs>825</Paragraphs>
  <Slides>64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8" baseType="lpstr">
      <vt:lpstr>Arial</vt:lpstr>
      <vt:lpstr>Calibri</vt:lpstr>
      <vt:lpstr>Calibri (Body)</vt:lpstr>
      <vt:lpstr>Calibri Light</vt:lpstr>
      <vt:lpstr>Cambria Math</vt:lpstr>
      <vt:lpstr>Courier New</vt:lpstr>
      <vt:lpstr>Helvetica</vt:lpstr>
      <vt:lpstr>Inter</vt:lpstr>
      <vt:lpstr>Menlo</vt:lpstr>
      <vt:lpstr>Outfit</vt:lpstr>
      <vt:lpstr>söhne</vt:lpstr>
      <vt:lpstr>söhne</vt:lpstr>
      <vt:lpstr>Space Grotesk</vt:lpstr>
      <vt:lpstr>Office Theme</vt:lpstr>
      <vt:lpstr>MSc Artificial Intelligence</vt:lpstr>
      <vt:lpstr>Logical Reasoning</vt:lpstr>
      <vt:lpstr>Graph Representations of Knowledge</vt:lpstr>
      <vt:lpstr>Probabilistic Reasoning</vt:lpstr>
      <vt:lpstr>Symbol Manipulation and Intelligence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Learning Outcomes</vt:lpstr>
      <vt:lpstr>Outline Syllabus</vt:lpstr>
      <vt:lpstr>How the Course will be Taught</vt:lpstr>
      <vt:lpstr>Assessment</vt:lpstr>
      <vt:lpstr>PowerPoint Presentation</vt:lpstr>
      <vt:lpstr>Can you solve them?</vt:lpstr>
      <vt:lpstr>PowerPoint Presentation</vt:lpstr>
      <vt:lpstr>What reasoning abilities did you use?</vt:lpstr>
      <vt:lpstr>Reasoning and Intelligence</vt:lpstr>
      <vt:lpstr>Logic and Intelligence</vt:lpstr>
      <vt:lpstr>Propositional Logic</vt:lpstr>
      <vt:lpstr>Propositional Logic</vt:lpstr>
      <vt:lpstr>Propositions</vt:lpstr>
      <vt:lpstr>Connectives</vt:lpstr>
      <vt:lpstr>Correctness</vt:lpstr>
      <vt:lpstr>Validity and Soundness</vt:lpstr>
      <vt:lpstr>PowerPoint Presentation</vt:lpstr>
      <vt:lpstr>Formal Propositional Logic</vt:lpstr>
      <vt:lpstr>Making Logical Arguments Formal</vt:lpstr>
      <vt:lpstr>Logical Connectives</vt:lpstr>
      <vt:lpstr>Truth Tables</vt:lpstr>
      <vt:lpstr>Negation (Not)</vt:lpstr>
      <vt:lpstr>Conjunction (And)</vt:lpstr>
      <vt:lpstr>Disjunction (Or)</vt:lpstr>
      <vt:lpstr>Material Implication</vt:lpstr>
      <vt:lpstr>Biconditional</vt:lpstr>
      <vt:lpstr>Back to our example</vt:lpstr>
      <vt:lpstr>PowerPoint Presentation</vt:lpstr>
      <vt:lpstr>PowerPoint Presentation</vt:lpstr>
      <vt:lpstr>Knowledge Bases</vt:lpstr>
      <vt:lpstr>How can agents achieve their goals?</vt:lpstr>
      <vt:lpstr>Knowledge Bases</vt:lpstr>
      <vt:lpstr>A Familiar Riddle</vt:lpstr>
      <vt:lpstr>Proofs in Logic</vt:lpstr>
      <vt:lpstr>Truth Tables</vt:lpstr>
      <vt:lpstr>Model Checking</vt:lpstr>
      <vt:lpstr>Model Checking</vt:lpstr>
      <vt:lpstr>Truth Tables</vt:lpstr>
      <vt:lpstr>Truth Tables</vt:lpstr>
      <vt:lpstr>Truth Tables</vt:lpstr>
      <vt:lpstr>Natural Deduction</vt:lpstr>
      <vt:lpstr>Natural Deduction</vt:lpstr>
      <vt:lpstr>Example of a Formal Proof</vt:lpstr>
      <vt:lpstr>Common Inference Rules</vt:lpstr>
      <vt:lpstr>A more complex Proof</vt:lpstr>
      <vt:lpstr>Some more Natural Deduction</vt:lpstr>
      <vt:lpstr>Proving Invalid Arguments</vt:lpstr>
      <vt:lpstr>PowerPoint Presentation</vt:lpstr>
      <vt:lpstr>Day 1 Wrap-up</vt:lpstr>
      <vt:lpstr>MSc Artificial Intelligence</vt:lpstr>
      <vt:lpstr>Recap from Day 1</vt:lpstr>
      <vt:lpstr>PowerPoint Presentation</vt:lpstr>
      <vt:lpstr>Automated Reasoning with Kanren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Iain Styles</dc:creator>
  <cp:lastModifiedBy>Iain Styles</cp:lastModifiedBy>
  <cp:revision>1</cp:revision>
  <dcterms:created xsi:type="dcterms:W3CDTF">2024-11-07T11:06:47Z</dcterms:created>
  <dcterms:modified xsi:type="dcterms:W3CDTF">2026-09-21T10:33:51Z</dcterms:modified>
</cp:coreProperties>
</file>